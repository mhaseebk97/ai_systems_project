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610" y="4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0062" y="-3481"/>
            <a:ext cx="5121421" cy="656439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480" y="5807264"/>
            <a:ext cx="4644048" cy="44832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0000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6967" y="1298472"/>
            <a:ext cx="15094065" cy="12457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24747" y="3116810"/>
            <a:ext cx="9058275" cy="3510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0062" y="-3481"/>
            <a:ext cx="5121421" cy="65643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480" y="5807264"/>
            <a:ext cx="4644048" cy="44832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471752" y="2751052"/>
            <a:ext cx="10375900" cy="18453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728595" marR="5080" indent="-2716530">
              <a:lnSpc>
                <a:spcPts val="7050"/>
              </a:lnSpc>
              <a:spcBef>
                <a:spcPts val="425"/>
              </a:spcBef>
            </a:pPr>
            <a:r>
              <a:rPr sz="6050" spc="484" dirty="0"/>
              <a:t>LLM-</a:t>
            </a:r>
            <a:r>
              <a:rPr sz="6050" spc="315" dirty="0"/>
              <a:t>POWERED</a:t>
            </a:r>
            <a:r>
              <a:rPr sz="6050" spc="390" dirty="0"/>
              <a:t> </a:t>
            </a:r>
            <a:r>
              <a:rPr sz="6050" spc="590" dirty="0"/>
              <a:t>VIRTUAL </a:t>
            </a:r>
            <a:r>
              <a:rPr sz="6050" spc="530" dirty="0"/>
              <a:t>ASSISTANT</a:t>
            </a:r>
            <a:endParaRPr sz="6050"/>
          </a:p>
        </p:txBody>
      </p:sp>
      <p:sp>
        <p:nvSpPr>
          <p:cNvPr id="5" name="object 5"/>
          <p:cNvSpPr txBox="1"/>
          <p:nvPr/>
        </p:nvSpPr>
        <p:spPr>
          <a:xfrm>
            <a:off x="3053693" y="5449770"/>
            <a:ext cx="11212195" cy="20736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250" spc="300" dirty="0">
                <a:solidFill>
                  <a:srgbClr val="FFFFFF"/>
                </a:solidFill>
                <a:latin typeface="Arial"/>
                <a:cs typeface="Arial"/>
              </a:rPr>
              <a:t>INDUSTRIAL</a:t>
            </a:r>
            <a:r>
              <a:rPr sz="32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65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350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80" dirty="0">
                <a:solidFill>
                  <a:srgbClr val="FFFFFF"/>
                </a:solidFill>
                <a:latin typeface="Arial"/>
                <a:cs typeface="Arial"/>
              </a:rPr>
              <a:t>OCCUPATIONAL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310" dirty="0">
                <a:solidFill>
                  <a:srgbClr val="FFFFFF"/>
                </a:solidFill>
                <a:latin typeface="Arial"/>
                <a:cs typeface="Arial"/>
              </a:rPr>
              <a:t>HEALTH</a:t>
            </a:r>
            <a:endParaRPr sz="3250" dirty="0">
              <a:latin typeface="Arial"/>
              <a:cs typeface="Arial"/>
            </a:endParaRPr>
          </a:p>
          <a:p>
            <a:pPr marR="95885" algn="ctr">
              <a:lnSpc>
                <a:spcPct val="100000"/>
              </a:lnSpc>
              <a:spcBef>
                <a:spcPts val="50"/>
              </a:spcBef>
            </a:pPr>
            <a:r>
              <a:rPr sz="2450" spc="240" dirty="0">
                <a:solidFill>
                  <a:srgbClr val="FFFFFF"/>
                </a:solidFill>
                <a:latin typeface="Arial"/>
                <a:cs typeface="Arial"/>
              </a:rPr>
              <a:t>INNOVATION</a:t>
            </a:r>
            <a:r>
              <a:rPr sz="24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spc="180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24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450" spc="175" dirty="0" smtClean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endParaRPr lang="en-US" sz="2450" spc="175" dirty="0" smtClean="0">
              <a:solidFill>
                <a:srgbClr val="FFFFFF"/>
              </a:solidFill>
              <a:latin typeface="Arial"/>
              <a:cs typeface="Arial"/>
            </a:endParaRPr>
          </a:p>
          <a:p>
            <a:pPr marR="95885" algn="ctr">
              <a:lnSpc>
                <a:spcPct val="100000"/>
              </a:lnSpc>
              <a:spcBef>
                <a:spcPts val="50"/>
              </a:spcBef>
            </a:pPr>
            <a:endParaRPr lang="en-US" sz="2450" spc="175" dirty="0">
              <a:solidFill>
                <a:srgbClr val="FFFFFF"/>
              </a:solidFill>
              <a:latin typeface="Arial"/>
              <a:cs typeface="Arial"/>
            </a:endParaRPr>
          </a:p>
          <a:p>
            <a:pPr marR="95885" algn="ctr">
              <a:lnSpc>
                <a:spcPct val="100000"/>
              </a:lnSpc>
              <a:spcBef>
                <a:spcPts val="50"/>
              </a:spcBef>
            </a:pPr>
            <a:r>
              <a:rPr lang="en-US" sz="2450" spc="175" dirty="0" smtClean="0">
                <a:solidFill>
                  <a:srgbClr val="FFFFFF"/>
                </a:solidFill>
                <a:latin typeface="Arial"/>
                <a:cs typeface="Arial"/>
              </a:rPr>
              <a:t>Muhammad </a:t>
            </a:r>
            <a:r>
              <a:rPr lang="en-US" sz="2450" spc="175" dirty="0" err="1" smtClean="0">
                <a:solidFill>
                  <a:srgbClr val="FFFFFF"/>
                </a:solidFill>
                <a:latin typeface="Arial"/>
                <a:cs typeface="Arial"/>
              </a:rPr>
              <a:t>Haseeb</a:t>
            </a:r>
            <a:r>
              <a:rPr lang="en-US" sz="2450" spc="175" dirty="0" smtClean="0">
                <a:solidFill>
                  <a:srgbClr val="FFFFFF"/>
                </a:solidFill>
                <a:latin typeface="Arial"/>
                <a:cs typeface="Arial"/>
              </a:rPr>
              <a:t> Khalid(D03000051)</a:t>
            </a:r>
          </a:p>
          <a:p>
            <a:pPr marR="95885" algn="ctr">
              <a:lnSpc>
                <a:spcPct val="100000"/>
              </a:lnSpc>
              <a:spcBef>
                <a:spcPts val="50"/>
              </a:spcBef>
            </a:pPr>
            <a:r>
              <a:rPr lang="en-US" sz="2450" spc="175" dirty="0" smtClean="0">
                <a:solidFill>
                  <a:srgbClr val="FFFFFF"/>
                </a:solidFill>
                <a:latin typeface="Arial"/>
                <a:cs typeface="Arial"/>
              </a:rPr>
              <a:t>Siraj Ahmed (D03000090)</a:t>
            </a:r>
            <a:endParaRPr sz="24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7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20" dirty="0"/>
              <a:t>Problem:</a:t>
            </a:r>
            <a:r>
              <a:rPr spc="265" dirty="0"/>
              <a:t> </a:t>
            </a:r>
            <a:r>
              <a:rPr spc="465" dirty="0"/>
              <a:t>Accessibility-</a:t>
            </a:r>
            <a:r>
              <a:rPr spc="500" dirty="0"/>
              <a:t>Actionability</a:t>
            </a:r>
            <a:r>
              <a:rPr spc="265" dirty="0"/>
              <a:t> </a:t>
            </a:r>
            <a:r>
              <a:rPr spc="345" dirty="0"/>
              <a:t>Gap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1278" y="3318817"/>
            <a:ext cx="9173845" cy="442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100"/>
              </a:spcBef>
            </a:pPr>
            <a:r>
              <a:rPr sz="1950" b="1" spc="114" dirty="0">
                <a:solidFill>
                  <a:srgbClr val="FFFFFF"/>
                </a:solidFill>
                <a:latin typeface="Arial Narrow"/>
                <a:cs typeface="Arial Narrow"/>
              </a:rPr>
              <a:t>Semantic</a:t>
            </a:r>
            <a:r>
              <a:rPr sz="1950" b="1" spc="26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14" dirty="0">
                <a:solidFill>
                  <a:srgbClr val="FFFFFF"/>
                </a:solidFill>
                <a:latin typeface="Arial Narrow"/>
                <a:cs typeface="Arial Narrow"/>
              </a:rPr>
              <a:t>Overload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Workers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get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lost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long,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complicated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19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documents</a:t>
            </a:r>
            <a:r>
              <a:rPr sz="19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and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</a:t>
            </a:r>
            <a:r>
              <a:rPr sz="19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them</a:t>
            </a:r>
            <a:r>
              <a:rPr sz="19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hard</a:t>
            </a:r>
            <a:r>
              <a:rPr sz="19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19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understand.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 marR="194945">
              <a:lnSpc>
                <a:spcPct val="134600"/>
              </a:lnSpc>
            </a:pPr>
            <a:r>
              <a:rPr sz="1950" b="1" spc="125" dirty="0">
                <a:solidFill>
                  <a:srgbClr val="FFFFFF"/>
                </a:solidFill>
                <a:latin typeface="Arial Narrow"/>
                <a:cs typeface="Arial Narrow"/>
              </a:rPr>
              <a:t>Retrieval</a:t>
            </a:r>
            <a:r>
              <a:rPr sz="1950" b="1" spc="17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10" dirty="0">
                <a:solidFill>
                  <a:srgbClr val="FFFFFF"/>
                </a:solidFill>
                <a:latin typeface="Arial Narrow"/>
                <a:cs typeface="Arial Narrow"/>
              </a:rPr>
              <a:t>Latency</a:t>
            </a:r>
            <a:r>
              <a:rPr sz="19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Simple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text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search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like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35" dirty="0">
                <a:solidFill>
                  <a:srgbClr val="FFFFFF"/>
                </a:solidFill>
                <a:latin typeface="Microsoft Sans Serif"/>
                <a:cs typeface="Microsoft Sans Serif"/>
              </a:rPr>
              <a:t>CTRL+F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often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fails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because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only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matches</a:t>
            </a:r>
            <a:r>
              <a:rPr sz="19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words,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not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actual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meaning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workers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looking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for.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 marR="221615">
              <a:lnSpc>
                <a:spcPct val="134600"/>
              </a:lnSpc>
            </a:pPr>
            <a:r>
              <a:rPr sz="1950" b="1" spc="110" dirty="0">
                <a:solidFill>
                  <a:srgbClr val="FFFFFF"/>
                </a:solidFill>
                <a:latin typeface="Arial Narrow"/>
                <a:cs typeface="Arial Narrow"/>
              </a:rPr>
              <a:t>Verification</a:t>
            </a:r>
            <a:r>
              <a:rPr sz="19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55" dirty="0">
                <a:solidFill>
                  <a:srgbClr val="FFFFFF"/>
                </a:solidFill>
                <a:latin typeface="Arial Narrow"/>
                <a:cs typeface="Arial Narrow"/>
              </a:rPr>
              <a:t>Risk</a:t>
            </a:r>
            <a:r>
              <a:rPr sz="19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Since</a:t>
            </a:r>
            <a:r>
              <a:rPr sz="19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checking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9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official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rules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takes</a:t>
            </a:r>
            <a:r>
              <a:rPr sz="19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9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effort,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people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may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skip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verification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rely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guesses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habits,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which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can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be</a:t>
            </a:r>
            <a:r>
              <a:rPr sz="19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unsafe.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 marR="636905">
              <a:lnSpc>
                <a:spcPct val="134600"/>
              </a:lnSpc>
              <a:spcBef>
                <a:spcPts val="5"/>
              </a:spcBef>
            </a:pPr>
            <a:r>
              <a:rPr sz="1950" b="1" spc="140" dirty="0">
                <a:solidFill>
                  <a:srgbClr val="FFFFFF"/>
                </a:solidFill>
                <a:latin typeface="Arial Narrow"/>
                <a:cs typeface="Arial Narrow"/>
              </a:rPr>
              <a:t>LLM</a:t>
            </a:r>
            <a:r>
              <a:rPr sz="19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85" dirty="0">
                <a:solidFill>
                  <a:srgbClr val="FFFFFF"/>
                </a:solidFill>
                <a:latin typeface="Arial Narrow"/>
                <a:cs typeface="Arial Narrow"/>
              </a:rPr>
              <a:t>Hallucination</a:t>
            </a:r>
            <a:r>
              <a:rPr sz="19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assistant</a:t>
            </a:r>
            <a:r>
              <a:rPr sz="1950" spc="1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might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sometimes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invent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answers</a:t>
            </a:r>
            <a:r>
              <a:rPr sz="19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1950" spc="1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give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advice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does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not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follow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laws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standards.</a:t>
            </a:r>
            <a:endParaRPr sz="19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5076" y="2863920"/>
            <a:ext cx="11543030" cy="7423150"/>
            <a:chOff x="6745076" y="2863920"/>
            <a:chExt cx="11543030" cy="7423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5076" y="2863920"/>
              <a:ext cx="11542831" cy="74230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566846" y="8359533"/>
              <a:ext cx="1721485" cy="1927860"/>
            </a:xfrm>
            <a:custGeom>
              <a:avLst/>
              <a:gdLst/>
              <a:ahLst/>
              <a:cxnLst/>
              <a:rect l="l" t="t" r="r" b="b"/>
              <a:pathLst>
                <a:path w="1721484" h="1927859">
                  <a:moveTo>
                    <a:pt x="1721154" y="883526"/>
                  </a:moveTo>
                  <a:lnTo>
                    <a:pt x="1599196" y="1014082"/>
                  </a:lnTo>
                  <a:lnTo>
                    <a:pt x="1565681" y="1060831"/>
                  </a:lnTo>
                  <a:lnTo>
                    <a:pt x="1364183" y="1272844"/>
                  </a:lnTo>
                  <a:lnTo>
                    <a:pt x="1331328" y="1318336"/>
                  </a:lnTo>
                  <a:lnTo>
                    <a:pt x="1212088" y="1442351"/>
                  </a:lnTo>
                  <a:lnTo>
                    <a:pt x="1179677" y="1486979"/>
                  </a:lnTo>
                  <a:lnTo>
                    <a:pt x="1100988" y="1568157"/>
                  </a:lnTo>
                  <a:lnTo>
                    <a:pt x="1068908" y="1612138"/>
                  </a:lnTo>
                  <a:lnTo>
                    <a:pt x="1029843" y="1652193"/>
                  </a:lnTo>
                  <a:lnTo>
                    <a:pt x="997991" y="1695742"/>
                  </a:lnTo>
                  <a:lnTo>
                    <a:pt x="920419" y="1774761"/>
                  </a:lnTo>
                  <a:lnTo>
                    <a:pt x="888923" y="1817662"/>
                  </a:lnTo>
                  <a:lnTo>
                    <a:pt x="850417" y="1856625"/>
                  </a:lnTo>
                  <a:lnTo>
                    <a:pt x="819137" y="1899081"/>
                  </a:lnTo>
                  <a:lnTo>
                    <a:pt x="790943" y="1927479"/>
                  </a:lnTo>
                  <a:lnTo>
                    <a:pt x="837018" y="1927479"/>
                  </a:lnTo>
                  <a:lnTo>
                    <a:pt x="844384" y="1920074"/>
                  </a:lnTo>
                  <a:lnTo>
                    <a:pt x="875626" y="1877669"/>
                  </a:lnTo>
                  <a:lnTo>
                    <a:pt x="914095" y="1838756"/>
                  </a:lnTo>
                  <a:lnTo>
                    <a:pt x="945565" y="1795919"/>
                  </a:lnTo>
                  <a:lnTo>
                    <a:pt x="1023073" y="1717027"/>
                  </a:lnTo>
                  <a:lnTo>
                    <a:pt x="1054887" y="1673529"/>
                  </a:lnTo>
                  <a:lnTo>
                    <a:pt x="1093927" y="1633550"/>
                  </a:lnTo>
                  <a:lnTo>
                    <a:pt x="1125969" y="1589620"/>
                  </a:lnTo>
                  <a:lnTo>
                    <a:pt x="1204607" y="1508569"/>
                  </a:lnTo>
                  <a:lnTo>
                    <a:pt x="1236992" y="1463992"/>
                  </a:lnTo>
                  <a:lnTo>
                    <a:pt x="1356118" y="1340154"/>
                  </a:lnTo>
                  <a:lnTo>
                    <a:pt x="1388948" y="1294726"/>
                  </a:lnTo>
                  <a:lnTo>
                    <a:pt x="1549806" y="1125778"/>
                  </a:lnTo>
                  <a:lnTo>
                    <a:pt x="1583182" y="1079296"/>
                  </a:lnTo>
                  <a:lnTo>
                    <a:pt x="1721154" y="931849"/>
                  </a:lnTo>
                  <a:lnTo>
                    <a:pt x="1721154" y="883526"/>
                  </a:lnTo>
                  <a:close/>
                </a:path>
                <a:path w="1721484" h="1927859">
                  <a:moveTo>
                    <a:pt x="1721154" y="662546"/>
                  </a:moveTo>
                  <a:lnTo>
                    <a:pt x="1466532" y="938822"/>
                  </a:lnTo>
                  <a:lnTo>
                    <a:pt x="1432394" y="986739"/>
                  </a:lnTo>
                  <a:lnTo>
                    <a:pt x="1228191" y="1203921"/>
                  </a:lnTo>
                  <a:lnTo>
                    <a:pt x="1194866" y="1250315"/>
                  </a:lnTo>
                  <a:lnTo>
                    <a:pt x="1074356" y="1376768"/>
                  </a:lnTo>
                  <a:lnTo>
                    <a:pt x="1041577" y="1422120"/>
                  </a:lnTo>
                  <a:lnTo>
                    <a:pt x="922693" y="1545463"/>
                  </a:lnTo>
                  <a:lnTo>
                    <a:pt x="890447" y="1589773"/>
                  </a:lnTo>
                  <a:lnTo>
                    <a:pt x="851230" y="1630108"/>
                  </a:lnTo>
                  <a:lnTo>
                    <a:pt x="819264" y="1673898"/>
                  </a:lnTo>
                  <a:lnTo>
                    <a:pt x="780313" y="1713712"/>
                  </a:lnTo>
                  <a:lnTo>
                    <a:pt x="748614" y="1756981"/>
                  </a:lnTo>
                  <a:lnTo>
                    <a:pt x="671423" y="1835289"/>
                  </a:lnTo>
                  <a:lnTo>
                    <a:pt x="640130" y="1877771"/>
                  </a:lnTo>
                  <a:lnTo>
                    <a:pt x="601878" y="1916264"/>
                  </a:lnTo>
                  <a:lnTo>
                    <a:pt x="593585" y="1927479"/>
                  </a:lnTo>
                  <a:lnTo>
                    <a:pt x="636803" y="1927479"/>
                  </a:lnTo>
                  <a:lnTo>
                    <a:pt x="665391" y="1898726"/>
                  </a:lnTo>
                  <a:lnTo>
                    <a:pt x="696645" y="1856295"/>
                  </a:lnTo>
                  <a:lnTo>
                    <a:pt x="735152" y="1817331"/>
                  </a:lnTo>
                  <a:lnTo>
                    <a:pt x="766686" y="1774380"/>
                  </a:lnTo>
                  <a:lnTo>
                    <a:pt x="844372" y="1695119"/>
                  </a:lnTo>
                  <a:lnTo>
                    <a:pt x="876325" y="1651381"/>
                  </a:lnTo>
                  <a:lnTo>
                    <a:pt x="915504" y="1611109"/>
                  </a:lnTo>
                  <a:lnTo>
                    <a:pt x="947724" y="1566837"/>
                  </a:lnTo>
                  <a:lnTo>
                    <a:pt x="1026795" y="1484972"/>
                  </a:lnTo>
                  <a:lnTo>
                    <a:pt x="1059421" y="1439938"/>
                  </a:lnTo>
                  <a:lnTo>
                    <a:pt x="1179436" y="1314411"/>
                  </a:lnTo>
                  <a:lnTo>
                    <a:pt x="1212596" y="1268336"/>
                  </a:lnTo>
                  <a:lnTo>
                    <a:pt x="1415999" y="1052690"/>
                  </a:lnTo>
                  <a:lnTo>
                    <a:pt x="1449971" y="1005078"/>
                  </a:lnTo>
                  <a:lnTo>
                    <a:pt x="1721154" y="711327"/>
                  </a:lnTo>
                  <a:lnTo>
                    <a:pt x="1721154" y="662546"/>
                  </a:lnTo>
                  <a:close/>
                </a:path>
                <a:path w="1721484" h="1927859">
                  <a:moveTo>
                    <a:pt x="1721154" y="445198"/>
                  </a:moveTo>
                  <a:lnTo>
                    <a:pt x="1440954" y="745451"/>
                  </a:lnTo>
                  <a:lnTo>
                    <a:pt x="1407833" y="791425"/>
                  </a:lnTo>
                  <a:lnTo>
                    <a:pt x="1248283" y="957897"/>
                  </a:lnTo>
                  <a:lnTo>
                    <a:pt x="1215834" y="1002588"/>
                  </a:lnTo>
                  <a:lnTo>
                    <a:pt x="1137145" y="1083741"/>
                  </a:lnTo>
                  <a:lnTo>
                    <a:pt x="1105115" y="1127645"/>
                  </a:lnTo>
                  <a:lnTo>
                    <a:pt x="1027252" y="1207236"/>
                  </a:lnTo>
                  <a:lnTo>
                    <a:pt x="995629" y="1250353"/>
                  </a:lnTo>
                  <a:lnTo>
                    <a:pt x="918591" y="1328356"/>
                  </a:lnTo>
                  <a:lnTo>
                    <a:pt x="887374" y="1370685"/>
                  </a:lnTo>
                  <a:lnTo>
                    <a:pt x="849198" y="1409039"/>
                  </a:lnTo>
                  <a:lnTo>
                    <a:pt x="818273" y="1450835"/>
                  </a:lnTo>
                  <a:lnTo>
                    <a:pt x="742619" y="1526197"/>
                  </a:lnTo>
                  <a:lnTo>
                    <a:pt x="712101" y="1567192"/>
                  </a:lnTo>
                  <a:lnTo>
                    <a:pt x="674624" y="1604200"/>
                  </a:lnTo>
                  <a:lnTo>
                    <a:pt x="644398" y="1644675"/>
                  </a:lnTo>
                  <a:lnTo>
                    <a:pt x="607199" y="1681149"/>
                  </a:lnTo>
                  <a:lnTo>
                    <a:pt x="577240" y="1721078"/>
                  </a:lnTo>
                  <a:lnTo>
                    <a:pt x="540321" y="1757019"/>
                  </a:lnTo>
                  <a:lnTo>
                    <a:pt x="481126" y="1835531"/>
                  </a:lnTo>
                  <a:lnTo>
                    <a:pt x="444639" y="1870671"/>
                  </a:lnTo>
                  <a:lnTo>
                    <a:pt x="401523" y="1927479"/>
                  </a:lnTo>
                  <a:lnTo>
                    <a:pt x="442760" y="1927479"/>
                  </a:lnTo>
                  <a:lnTo>
                    <a:pt x="469785" y="1891817"/>
                  </a:lnTo>
                  <a:lnTo>
                    <a:pt x="506260" y="1856727"/>
                  </a:lnTo>
                  <a:lnTo>
                    <a:pt x="565429" y="1778279"/>
                  </a:lnTo>
                  <a:lnTo>
                    <a:pt x="602322" y="1742363"/>
                  </a:lnTo>
                  <a:lnTo>
                    <a:pt x="632256" y="1702473"/>
                  </a:lnTo>
                  <a:lnTo>
                    <a:pt x="669442" y="1666024"/>
                  </a:lnTo>
                  <a:lnTo>
                    <a:pt x="699655" y="1625600"/>
                  </a:lnTo>
                  <a:lnTo>
                    <a:pt x="737120" y="1588617"/>
                  </a:lnTo>
                  <a:lnTo>
                    <a:pt x="767613" y="1547647"/>
                  </a:lnTo>
                  <a:lnTo>
                    <a:pt x="805345" y="1510144"/>
                  </a:lnTo>
                  <a:lnTo>
                    <a:pt x="836117" y="1468640"/>
                  </a:lnTo>
                  <a:lnTo>
                    <a:pt x="912304" y="1392288"/>
                  </a:lnTo>
                  <a:lnTo>
                    <a:pt x="943483" y="1349997"/>
                  </a:lnTo>
                  <a:lnTo>
                    <a:pt x="981925" y="1311148"/>
                  </a:lnTo>
                  <a:lnTo>
                    <a:pt x="1013383" y="1268336"/>
                  </a:lnTo>
                  <a:lnTo>
                    <a:pt x="1090942" y="1189342"/>
                  </a:lnTo>
                  <a:lnTo>
                    <a:pt x="1122819" y="1145730"/>
                  </a:lnTo>
                  <a:lnTo>
                    <a:pt x="1240599" y="1024483"/>
                  </a:lnTo>
                  <a:lnTo>
                    <a:pt x="1273022" y="979830"/>
                  </a:lnTo>
                  <a:lnTo>
                    <a:pt x="1432509" y="813498"/>
                  </a:lnTo>
                  <a:lnTo>
                    <a:pt x="1465605" y="767549"/>
                  </a:lnTo>
                  <a:lnTo>
                    <a:pt x="1721154" y="493814"/>
                  </a:lnTo>
                  <a:lnTo>
                    <a:pt x="1721154" y="445198"/>
                  </a:lnTo>
                  <a:close/>
                </a:path>
                <a:path w="1721484" h="1927859">
                  <a:moveTo>
                    <a:pt x="1721154" y="224231"/>
                  </a:moveTo>
                  <a:lnTo>
                    <a:pt x="1286687" y="694156"/>
                  </a:lnTo>
                  <a:lnTo>
                    <a:pt x="1253159" y="740905"/>
                  </a:lnTo>
                  <a:lnTo>
                    <a:pt x="1092250" y="909980"/>
                  </a:lnTo>
                  <a:lnTo>
                    <a:pt x="1059522" y="955205"/>
                  </a:lnTo>
                  <a:lnTo>
                    <a:pt x="940993" y="1077874"/>
                  </a:lnTo>
                  <a:lnTo>
                    <a:pt x="908913" y="1121879"/>
                  </a:lnTo>
                  <a:lnTo>
                    <a:pt x="831024" y="1201508"/>
                  </a:lnTo>
                  <a:lnTo>
                    <a:pt x="799439" y="1244574"/>
                  </a:lnTo>
                  <a:lnTo>
                    <a:pt x="760895" y="1283614"/>
                  </a:lnTo>
                  <a:lnTo>
                    <a:pt x="729627" y="1326070"/>
                  </a:lnTo>
                  <a:lnTo>
                    <a:pt x="653351" y="1402600"/>
                  </a:lnTo>
                  <a:lnTo>
                    <a:pt x="622566" y="1444117"/>
                  </a:lnTo>
                  <a:lnTo>
                    <a:pt x="584847" y="1481594"/>
                  </a:lnTo>
                  <a:lnTo>
                    <a:pt x="554393" y="1522488"/>
                  </a:lnTo>
                  <a:lnTo>
                    <a:pt x="516991" y="1559356"/>
                  </a:lnTo>
                  <a:lnTo>
                    <a:pt x="486867" y="1599615"/>
                  </a:lnTo>
                  <a:lnTo>
                    <a:pt x="449795" y="1635848"/>
                  </a:lnTo>
                  <a:lnTo>
                    <a:pt x="420001" y="1675485"/>
                  </a:lnTo>
                  <a:lnTo>
                    <a:pt x="383260" y="1711096"/>
                  </a:lnTo>
                  <a:lnTo>
                    <a:pt x="353783" y="1750098"/>
                  </a:lnTo>
                  <a:lnTo>
                    <a:pt x="317373" y="1785073"/>
                  </a:lnTo>
                  <a:lnTo>
                    <a:pt x="259270" y="1861502"/>
                  </a:lnTo>
                  <a:lnTo>
                    <a:pt x="223354" y="1895525"/>
                  </a:lnTo>
                  <a:lnTo>
                    <a:pt x="198869" y="1927479"/>
                  </a:lnTo>
                  <a:lnTo>
                    <a:pt x="240284" y="1927479"/>
                  </a:lnTo>
                  <a:lnTo>
                    <a:pt x="248412" y="1916861"/>
                  </a:lnTo>
                  <a:lnTo>
                    <a:pt x="284314" y="1882863"/>
                  </a:lnTo>
                  <a:lnTo>
                    <a:pt x="342392" y="1806473"/>
                  </a:lnTo>
                  <a:lnTo>
                    <a:pt x="378802" y="1771523"/>
                  </a:lnTo>
                  <a:lnTo>
                    <a:pt x="408254" y="1732546"/>
                  </a:lnTo>
                  <a:lnTo>
                    <a:pt x="444982" y="1696961"/>
                  </a:lnTo>
                  <a:lnTo>
                    <a:pt x="474764" y="1657350"/>
                  </a:lnTo>
                  <a:lnTo>
                    <a:pt x="511822" y="1621129"/>
                  </a:lnTo>
                  <a:lnTo>
                    <a:pt x="541947" y="1580896"/>
                  </a:lnTo>
                  <a:lnTo>
                    <a:pt x="579335" y="1544053"/>
                  </a:lnTo>
                  <a:lnTo>
                    <a:pt x="609777" y="1503184"/>
                  </a:lnTo>
                  <a:lnTo>
                    <a:pt x="647484" y="1465719"/>
                  </a:lnTo>
                  <a:lnTo>
                    <a:pt x="678256" y="1424228"/>
                  </a:lnTo>
                  <a:lnTo>
                    <a:pt x="716305" y="1386141"/>
                  </a:lnTo>
                  <a:lnTo>
                    <a:pt x="747395" y="1344015"/>
                  </a:lnTo>
                  <a:lnTo>
                    <a:pt x="824293" y="1266291"/>
                  </a:lnTo>
                  <a:lnTo>
                    <a:pt x="855878" y="1223251"/>
                  </a:lnTo>
                  <a:lnTo>
                    <a:pt x="933742" y="1143660"/>
                  </a:lnTo>
                  <a:lnTo>
                    <a:pt x="965809" y="1099693"/>
                  </a:lnTo>
                  <a:lnTo>
                    <a:pt x="1084300" y="977087"/>
                  </a:lnTo>
                  <a:lnTo>
                    <a:pt x="1117003" y="931875"/>
                  </a:lnTo>
                  <a:lnTo>
                    <a:pt x="1237424" y="805599"/>
                  </a:lnTo>
                  <a:lnTo>
                    <a:pt x="1270774" y="759180"/>
                  </a:lnTo>
                  <a:lnTo>
                    <a:pt x="1600123" y="406666"/>
                  </a:lnTo>
                  <a:lnTo>
                    <a:pt x="1634896" y="357530"/>
                  </a:lnTo>
                  <a:lnTo>
                    <a:pt x="1721154" y="263194"/>
                  </a:lnTo>
                  <a:lnTo>
                    <a:pt x="1721154" y="224231"/>
                  </a:lnTo>
                  <a:close/>
                </a:path>
                <a:path w="1721484" h="1927859">
                  <a:moveTo>
                    <a:pt x="1721154" y="0"/>
                  </a:moveTo>
                  <a:lnTo>
                    <a:pt x="0" y="1927479"/>
                  </a:lnTo>
                  <a:lnTo>
                    <a:pt x="42519" y="1927479"/>
                  </a:lnTo>
                  <a:lnTo>
                    <a:pt x="1721154" y="47650"/>
                  </a:lnTo>
                  <a:lnTo>
                    <a:pt x="1721154" y="0"/>
                  </a:lnTo>
                  <a:close/>
                </a:path>
              </a:pathLst>
            </a:custGeom>
            <a:solidFill>
              <a:srgbClr val="AE7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609667" y="36395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9667" y="48387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9667" y="71788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9667" y="60388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57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370" dirty="0"/>
              <a:t>Our</a:t>
            </a:r>
            <a:r>
              <a:rPr spc="245" dirty="0"/>
              <a:t> </a:t>
            </a:r>
            <a:r>
              <a:rPr spc="420" dirty="0"/>
              <a:t>Solution:</a:t>
            </a:r>
            <a:r>
              <a:rPr spc="245" dirty="0"/>
              <a:t> </a:t>
            </a:r>
            <a:r>
              <a:rPr spc="220" dirty="0"/>
              <a:t>RAG-</a:t>
            </a:r>
            <a:r>
              <a:rPr spc="450" dirty="0"/>
              <a:t>Based</a:t>
            </a:r>
            <a:r>
              <a:rPr spc="245" dirty="0"/>
              <a:t> </a:t>
            </a:r>
            <a:r>
              <a:rPr spc="455" dirty="0"/>
              <a:t>Safety</a:t>
            </a:r>
            <a:r>
              <a:rPr spc="245" dirty="0"/>
              <a:t> </a:t>
            </a:r>
            <a:r>
              <a:rPr spc="48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91278" y="3318817"/>
            <a:ext cx="9222740" cy="4425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41630">
              <a:lnSpc>
                <a:spcPct val="134600"/>
              </a:lnSpc>
              <a:spcBef>
                <a:spcPts val="100"/>
              </a:spcBef>
            </a:pPr>
            <a:r>
              <a:rPr sz="1950" b="1" spc="125" dirty="0">
                <a:solidFill>
                  <a:srgbClr val="FFFFFF"/>
                </a:solidFill>
                <a:latin typeface="Arial Narrow"/>
                <a:cs typeface="Arial Narrow"/>
              </a:rPr>
              <a:t>Retrieval-</a:t>
            </a:r>
            <a:r>
              <a:rPr sz="1950" b="1" spc="145" dirty="0">
                <a:solidFill>
                  <a:srgbClr val="FFFFFF"/>
                </a:solidFill>
                <a:latin typeface="Arial Narrow"/>
                <a:cs typeface="Arial Narrow"/>
              </a:rPr>
              <a:t>Augmented</a:t>
            </a:r>
            <a:r>
              <a:rPr sz="1950" b="1" spc="22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95" dirty="0">
                <a:solidFill>
                  <a:srgbClr val="FFFFFF"/>
                </a:solidFill>
                <a:latin typeface="Arial Narrow"/>
                <a:cs typeface="Arial Narrow"/>
              </a:rPr>
              <a:t>Generation</a:t>
            </a:r>
            <a:r>
              <a:rPr sz="1950" b="1" spc="22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85" dirty="0">
                <a:solidFill>
                  <a:srgbClr val="FFFFFF"/>
                </a:solidFill>
                <a:latin typeface="Arial Narrow"/>
                <a:cs typeface="Arial Narrow"/>
              </a:rPr>
              <a:t>(RAG)</a:t>
            </a:r>
            <a:r>
              <a:rPr sz="19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looks</a:t>
            </a:r>
            <a:r>
              <a:rPr sz="19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up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documents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first,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then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answers</a:t>
            </a:r>
            <a:r>
              <a:rPr sz="19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based</a:t>
            </a:r>
            <a:r>
              <a:rPr sz="19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9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what</a:t>
            </a:r>
            <a:r>
              <a:rPr sz="19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19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finds</a:t>
            </a:r>
            <a:r>
              <a:rPr sz="19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(not</a:t>
            </a:r>
            <a:r>
              <a:rPr sz="19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19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memory</a:t>
            </a:r>
            <a:r>
              <a:rPr sz="19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alone)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 marR="1229360">
              <a:lnSpc>
                <a:spcPct val="134600"/>
              </a:lnSpc>
            </a:pPr>
            <a:r>
              <a:rPr sz="1950" b="1" spc="110" dirty="0">
                <a:solidFill>
                  <a:srgbClr val="FFFFFF"/>
                </a:solidFill>
                <a:latin typeface="Arial Narrow"/>
                <a:cs typeface="Arial Narrow"/>
              </a:rPr>
              <a:t>Hybrid</a:t>
            </a:r>
            <a:r>
              <a:rPr sz="19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90" dirty="0">
                <a:solidFill>
                  <a:srgbClr val="FFFFFF"/>
                </a:solidFill>
                <a:latin typeface="Arial Narrow"/>
                <a:cs typeface="Arial Narrow"/>
              </a:rPr>
              <a:t>Search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Uses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two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search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methods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at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same</a:t>
            </a:r>
            <a:r>
              <a:rPr sz="19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295" dirty="0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one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that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understands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meaning,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one</a:t>
            </a:r>
            <a:r>
              <a:rPr sz="19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that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finds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</a:t>
            </a:r>
            <a:r>
              <a:rPr sz="19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words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295" dirty="0">
                <a:solidFill>
                  <a:srgbClr val="FFFFFF"/>
                </a:solidFill>
                <a:latin typeface="Microsoft Sans Serif"/>
                <a:cs typeface="Microsoft Sans Serif"/>
              </a:rPr>
              <a:t>—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19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better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results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 marR="5080">
              <a:lnSpc>
                <a:spcPct val="134600"/>
              </a:lnSpc>
            </a:pPr>
            <a:r>
              <a:rPr sz="1950" b="1" spc="150" dirty="0">
                <a:solidFill>
                  <a:srgbClr val="FFFFFF"/>
                </a:solidFill>
                <a:latin typeface="Arial Narrow"/>
                <a:cs typeface="Arial Narrow"/>
              </a:rPr>
              <a:t>Fully</a:t>
            </a:r>
            <a:r>
              <a:rPr sz="1950" b="1" spc="2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10" dirty="0">
                <a:solidFill>
                  <a:srgbClr val="FFFFFF"/>
                </a:solidFill>
                <a:latin typeface="Arial Narrow"/>
                <a:cs typeface="Arial Narrow"/>
              </a:rPr>
              <a:t>Offline</a:t>
            </a:r>
            <a:r>
              <a:rPr sz="19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Everything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runs</a:t>
            </a:r>
            <a:r>
              <a:rPr sz="19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on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9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computer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locally;</a:t>
            </a:r>
            <a:r>
              <a:rPr sz="19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no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data</a:t>
            </a:r>
            <a:r>
              <a:rPr sz="19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goes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19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19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cloud 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19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internet</a:t>
            </a:r>
            <a:endParaRPr sz="19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sz="1950">
              <a:latin typeface="Microsoft Sans Serif"/>
              <a:cs typeface="Microsoft Sans Serif"/>
            </a:endParaRPr>
          </a:p>
          <a:p>
            <a:pPr marL="12700" marR="207645">
              <a:lnSpc>
                <a:spcPct val="134600"/>
              </a:lnSpc>
              <a:spcBef>
                <a:spcPts val="5"/>
              </a:spcBef>
            </a:pPr>
            <a:r>
              <a:rPr sz="1950" b="1" spc="135" dirty="0">
                <a:solidFill>
                  <a:srgbClr val="FFFFFF"/>
                </a:solidFill>
                <a:latin typeface="Arial Narrow"/>
                <a:cs typeface="Arial Narrow"/>
              </a:rPr>
              <a:t>Neuro-</a:t>
            </a:r>
            <a:r>
              <a:rPr sz="1950" b="1" spc="125" dirty="0">
                <a:solidFill>
                  <a:srgbClr val="FFFFFF"/>
                </a:solidFill>
                <a:latin typeface="Arial Narrow"/>
                <a:cs typeface="Arial Narrow"/>
              </a:rPr>
              <a:t>Symbolic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65" dirty="0">
                <a:solidFill>
                  <a:srgbClr val="FFFFFF"/>
                </a:solidFill>
                <a:latin typeface="Arial Narrow"/>
                <a:cs typeface="Arial Narrow"/>
              </a:rPr>
              <a:t>Grounding</a:t>
            </a:r>
            <a:r>
              <a:rPr sz="19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has</a:t>
            </a:r>
            <a:r>
              <a:rPr sz="19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built-in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rules</a:t>
            </a:r>
            <a:r>
              <a:rPr sz="19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must</a:t>
            </a:r>
            <a:r>
              <a:rPr sz="19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always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follow;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it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cannot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break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them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or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make</a:t>
            </a:r>
            <a:r>
              <a:rPr sz="19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dirty="0">
                <a:solidFill>
                  <a:srgbClr val="FFFFFF"/>
                </a:solidFill>
                <a:latin typeface="Microsoft Sans Serif"/>
                <a:cs typeface="Microsoft Sans Serif"/>
              </a:rPr>
              <a:t>things</a:t>
            </a:r>
            <a:r>
              <a:rPr sz="19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9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up</a:t>
            </a:r>
            <a:endParaRPr sz="195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745076" y="2863920"/>
            <a:ext cx="11543030" cy="7423150"/>
            <a:chOff x="6745076" y="2863920"/>
            <a:chExt cx="11543030" cy="74231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45076" y="2863920"/>
              <a:ext cx="11542831" cy="74230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566846" y="8359533"/>
              <a:ext cx="1721485" cy="1927860"/>
            </a:xfrm>
            <a:custGeom>
              <a:avLst/>
              <a:gdLst/>
              <a:ahLst/>
              <a:cxnLst/>
              <a:rect l="l" t="t" r="r" b="b"/>
              <a:pathLst>
                <a:path w="1721484" h="1927859">
                  <a:moveTo>
                    <a:pt x="1721154" y="883526"/>
                  </a:moveTo>
                  <a:lnTo>
                    <a:pt x="1599196" y="1014082"/>
                  </a:lnTo>
                  <a:lnTo>
                    <a:pt x="1565681" y="1060831"/>
                  </a:lnTo>
                  <a:lnTo>
                    <a:pt x="1364183" y="1272844"/>
                  </a:lnTo>
                  <a:lnTo>
                    <a:pt x="1331328" y="1318336"/>
                  </a:lnTo>
                  <a:lnTo>
                    <a:pt x="1212088" y="1442351"/>
                  </a:lnTo>
                  <a:lnTo>
                    <a:pt x="1179677" y="1486979"/>
                  </a:lnTo>
                  <a:lnTo>
                    <a:pt x="1100988" y="1568157"/>
                  </a:lnTo>
                  <a:lnTo>
                    <a:pt x="1068908" y="1612138"/>
                  </a:lnTo>
                  <a:lnTo>
                    <a:pt x="1029843" y="1652193"/>
                  </a:lnTo>
                  <a:lnTo>
                    <a:pt x="997991" y="1695742"/>
                  </a:lnTo>
                  <a:lnTo>
                    <a:pt x="920419" y="1774761"/>
                  </a:lnTo>
                  <a:lnTo>
                    <a:pt x="888923" y="1817662"/>
                  </a:lnTo>
                  <a:lnTo>
                    <a:pt x="850417" y="1856625"/>
                  </a:lnTo>
                  <a:lnTo>
                    <a:pt x="819137" y="1899081"/>
                  </a:lnTo>
                  <a:lnTo>
                    <a:pt x="790943" y="1927479"/>
                  </a:lnTo>
                  <a:lnTo>
                    <a:pt x="837018" y="1927479"/>
                  </a:lnTo>
                  <a:lnTo>
                    <a:pt x="844384" y="1920074"/>
                  </a:lnTo>
                  <a:lnTo>
                    <a:pt x="875626" y="1877669"/>
                  </a:lnTo>
                  <a:lnTo>
                    <a:pt x="914095" y="1838756"/>
                  </a:lnTo>
                  <a:lnTo>
                    <a:pt x="945565" y="1795919"/>
                  </a:lnTo>
                  <a:lnTo>
                    <a:pt x="1023073" y="1717027"/>
                  </a:lnTo>
                  <a:lnTo>
                    <a:pt x="1054887" y="1673529"/>
                  </a:lnTo>
                  <a:lnTo>
                    <a:pt x="1093927" y="1633550"/>
                  </a:lnTo>
                  <a:lnTo>
                    <a:pt x="1125969" y="1589620"/>
                  </a:lnTo>
                  <a:lnTo>
                    <a:pt x="1204607" y="1508569"/>
                  </a:lnTo>
                  <a:lnTo>
                    <a:pt x="1236992" y="1463992"/>
                  </a:lnTo>
                  <a:lnTo>
                    <a:pt x="1356118" y="1340154"/>
                  </a:lnTo>
                  <a:lnTo>
                    <a:pt x="1388948" y="1294726"/>
                  </a:lnTo>
                  <a:lnTo>
                    <a:pt x="1549806" y="1125778"/>
                  </a:lnTo>
                  <a:lnTo>
                    <a:pt x="1583182" y="1079296"/>
                  </a:lnTo>
                  <a:lnTo>
                    <a:pt x="1721154" y="931849"/>
                  </a:lnTo>
                  <a:lnTo>
                    <a:pt x="1721154" y="883526"/>
                  </a:lnTo>
                  <a:close/>
                </a:path>
                <a:path w="1721484" h="1927859">
                  <a:moveTo>
                    <a:pt x="1721154" y="662546"/>
                  </a:moveTo>
                  <a:lnTo>
                    <a:pt x="1466532" y="938822"/>
                  </a:lnTo>
                  <a:lnTo>
                    <a:pt x="1432394" y="986739"/>
                  </a:lnTo>
                  <a:lnTo>
                    <a:pt x="1228191" y="1203921"/>
                  </a:lnTo>
                  <a:lnTo>
                    <a:pt x="1194866" y="1250315"/>
                  </a:lnTo>
                  <a:lnTo>
                    <a:pt x="1074356" y="1376768"/>
                  </a:lnTo>
                  <a:lnTo>
                    <a:pt x="1041577" y="1422120"/>
                  </a:lnTo>
                  <a:lnTo>
                    <a:pt x="922693" y="1545463"/>
                  </a:lnTo>
                  <a:lnTo>
                    <a:pt x="890447" y="1589773"/>
                  </a:lnTo>
                  <a:lnTo>
                    <a:pt x="851230" y="1630108"/>
                  </a:lnTo>
                  <a:lnTo>
                    <a:pt x="819264" y="1673898"/>
                  </a:lnTo>
                  <a:lnTo>
                    <a:pt x="780313" y="1713712"/>
                  </a:lnTo>
                  <a:lnTo>
                    <a:pt x="748614" y="1756981"/>
                  </a:lnTo>
                  <a:lnTo>
                    <a:pt x="671423" y="1835289"/>
                  </a:lnTo>
                  <a:lnTo>
                    <a:pt x="640130" y="1877771"/>
                  </a:lnTo>
                  <a:lnTo>
                    <a:pt x="601878" y="1916264"/>
                  </a:lnTo>
                  <a:lnTo>
                    <a:pt x="593585" y="1927479"/>
                  </a:lnTo>
                  <a:lnTo>
                    <a:pt x="636803" y="1927479"/>
                  </a:lnTo>
                  <a:lnTo>
                    <a:pt x="665391" y="1898726"/>
                  </a:lnTo>
                  <a:lnTo>
                    <a:pt x="696645" y="1856295"/>
                  </a:lnTo>
                  <a:lnTo>
                    <a:pt x="735152" y="1817331"/>
                  </a:lnTo>
                  <a:lnTo>
                    <a:pt x="766686" y="1774380"/>
                  </a:lnTo>
                  <a:lnTo>
                    <a:pt x="844372" y="1695119"/>
                  </a:lnTo>
                  <a:lnTo>
                    <a:pt x="876325" y="1651381"/>
                  </a:lnTo>
                  <a:lnTo>
                    <a:pt x="915504" y="1611109"/>
                  </a:lnTo>
                  <a:lnTo>
                    <a:pt x="947724" y="1566837"/>
                  </a:lnTo>
                  <a:lnTo>
                    <a:pt x="1026795" y="1484972"/>
                  </a:lnTo>
                  <a:lnTo>
                    <a:pt x="1059421" y="1439938"/>
                  </a:lnTo>
                  <a:lnTo>
                    <a:pt x="1179436" y="1314411"/>
                  </a:lnTo>
                  <a:lnTo>
                    <a:pt x="1212596" y="1268336"/>
                  </a:lnTo>
                  <a:lnTo>
                    <a:pt x="1415999" y="1052690"/>
                  </a:lnTo>
                  <a:lnTo>
                    <a:pt x="1449971" y="1005078"/>
                  </a:lnTo>
                  <a:lnTo>
                    <a:pt x="1721154" y="711327"/>
                  </a:lnTo>
                  <a:lnTo>
                    <a:pt x="1721154" y="662546"/>
                  </a:lnTo>
                  <a:close/>
                </a:path>
                <a:path w="1721484" h="1927859">
                  <a:moveTo>
                    <a:pt x="1721154" y="445198"/>
                  </a:moveTo>
                  <a:lnTo>
                    <a:pt x="1440954" y="745451"/>
                  </a:lnTo>
                  <a:lnTo>
                    <a:pt x="1407833" y="791425"/>
                  </a:lnTo>
                  <a:lnTo>
                    <a:pt x="1248283" y="957897"/>
                  </a:lnTo>
                  <a:lnTo>
                    <a:pt x="1215834" y="1002588"/>
                  </a:lnTo>
                  <a:lnTo>
                    <a:pt x="1137145" y="1083741"/>
                  </a:lnTo>
                  <a:lnTo>
                    <a:pt x="1105115" y="1127645"/>
                  </a:lnTo>
                  <a:lnTo>
                    <a:pt x="1027252" y="1207236"/>
                  </a:lnTo>
                  <a:lnTo>
                    <a:pt x="995629" y="1250353"/>
                  </a:lnTo>
                  <a:lnTo>
                    <a:pt x="918591" y="1328356"/>
                  </a:lnTo>
                  <a:lnTo>
                    <a:pt x="887374" y="1370685"/>
                  </a:lnTo>
                  <a:lnTo>
                    <a:pt x="849198" y="1409039"/>
                  </a:lnTo>
                  <a:lnTo>
                    <a:pt x="818273" y="1450835"/>
                  </a:lnTo>
                  <a:lnTo>
                    <a:pt x="742619" y="1526197"/>
                  </a:lnTo>
                  <a:lnTo>
                    <a:pt x="712101" y="1567192"/>
                  </a:lnTo>
                  <a:lnTo>
                    <a:pt x="674624" y="1604200"/>
                  </a:lnTo>
                  <a:lnTo>
                    <a:pt x="644398" y="1644675"/>
                  </a:lnTo>
                  <a:lnTo>
                    <a:pt x="607199" y="1681149"/>
                  </a:lnTo>
                  <a:lnTo>
                    <a:pt x="577240" y="1721078"/>
                  </a:lnTo>
                  <a:lnTo>
                    <a:pt x="540321" y="1757019"/>
                  </a:lnTo>
                  <a:lnTo>
                    <a:pt x="481126" y="1835531"/>
                  </a:lnTo>
                  <a:lnTo>
                    <a:pt x="444639" y="1870671"/>
                  </a:lnTo>
                  <a:lnTo>
                    <a:pt x="401523" y="1927479"/>
                  </a:lnTo>
                  <a:lnTo>
                    <a:pt x="442760" y="1927479"/>
                  </a:lnTo>
                  <a:lnTo>
                    <a:pt x="469785" y="1891817"/>
                  </a:lnTo>
                  <a:lnTo>
                    <a:pt x="506260" y="1856727"/>
                  </a:lnTo>
                  <a:lnTo>
                    <a:pt x="565429" y="1778279"/>
                  </a:lnTo>
                  <a:lnTo>
                    <a:pt x="602322" y="1742363"/>
                  </a:lnTo>
                  <a:lnTo>
                    <a:pt x="632256" y="1702473"/>
                  </a:lnTo>
                  <a:lnTo>
                    <a:pt x="669442" y="1666024"/>
                  </a:lnTo>
                  <a:lnTo>
                    <a:pt x="699655" y="1625600"/>
                  </a:lnTo>
                  <a:lnTo>
                    <a:pt x="737120" y="1588617"/>
                  </a:lnTo>
                  <a:lnTo>
                    <a:pt x="767613" y="1547647"/>
                  </a:lnTo>
                  <a:lnTo>
                    <a:pt x="805345" y="1510144"/>
                  </a:lnTo>
                  <a:lnTo>
                    <a:pt x="836117" y="1468640"/>
                  </a:lnTo>
                  <a:lnTo>
                    <a:pt x="912304" y="1392288"/>
                  </a:lnTo>
                  <a:lnTo>
                    <a:pt x="943483" y="1349997"/>
                  </a:lnTo>
                  <a:lnTo>
                    <a:pt x="981925" y="1311148"/>
                  </a:lnTo>
                  <a:lnTo>
                    <a:pt x="1013383" y="1268336"/>
                  </a:lnTo>
                  <a:lnTo>
                    <a:pt x="1090942" y="1189342"/>
                  </a:lnTo>
                  <a:lnTo>
                    <a:pt x="1122819" y="1145730"/>
                  </a:lnTo>
                  <a:lnTo>
                    <a:pt x="1240599" y="1024483"/>
                  </a:lnTo>
                  <a:lnTo>
                    <a:pt x="1273022" y="979830"/>
                  </a:lnTo>
                  <a:lnTo>
                    <a:pt x="1432509" y="813498"/>
                  </a:lnTo>
                  <a:lnTo>
                    <a:pt x="1465605" y="767549"/>
                  </a:lnTo>
                  <a:lnTo>
                    <a:pt x="1721154" y="493814"/>
                  </a:lnTo>
                  <a:lnTo>
                    <a:pt x="1721154" y="445198"/>
                  </a:lnTo>
                  <a:close/>
                </a:path>
                <a:path w="1721484" h="1927859">
                  <a:moveTo>
                    <a:pt x="1721154" y="224231"/>
                  </a:moveTo>
                  <a:lnTo>
                    <a:pt x="1286687" y="694156"/>
                  </a:lnTo>
                  <a:lnTo>
                    <a:pt x="1253159" y="740905"/>
                  </a:lnTo>
                  <a:lnTo>
                    <a:pt x="1092250" y="909980"/>
                  </a:lnTo>
                  <a:lnTo>
                    <a:pt x="1059522" y="955205"/>
                  </a:lnTo>
                  <a:lnTo>
                    <a:pt x="940993" y="1077874"/>
                  </a:lnTo>
                  <a:lnTo>
                    <a:pt x="908913" y="1121879"/>
                  </a:lnTo>
                  <a:lnTo>
                    <a:pt x="831024" y="1201508"/>
                  </a:lnTo>
                  <a:lnTo>
                    <a:pt x="799439" y="1244574"/>
                  </a:lnTo>
                  <a:lnTo>
                    <a:pt x="760895" y="1283614"/>
                  </a:lnTo>
                  <a:lnTo>
                    <a:pt x="729627" y="1326070"/>
                  </a:lnTo>
                  <a:lnTo>
                    <a:pt x="653351" y="1402600"/>
                  </a:lnTo>
                  <a:lnTo>
                    <a:pt x="622566" y="1444117"/>
                  </a:lnTo>
                  <a:lnTo>
                    <a:pt x="584847" y="1481594"/>
                  </a:lnTo>
                  <a:lnTo>
                    <a:pt x="554393" y="1522488"/>
                  </a:lnTo>
                  <a:lnTo>
                    <a:pt x="516991" y="1559356"/>
                  </a:lnTo>
                  <a:lnTo>
                    <a:pt x="486867" y="1599615"/>
                  </a:lnTo>
                  <a:lnTo>
                    <a:pt x="449795" y="1635848"/>
                  </a:lnTo>
                  <a:lnTo>
                    <a:pt x="420001" y="1675485"/>
                  </a:lnTo>
                  <a:lnTo>
                    <a:pt x="383260" y="1711096"/>
                  </a:lnTo>
                  <a:lnTo>
                    <a:pt x="353783" y="1750098"/>
                  </a:lnTo>
                  <a:lnTo>
                    <a:pt x="317373" y="1785073"/>
                  </a:lnTo>
                  <a:lnTo>
                    <a:pt x="259270" y="1861502"/>
                  </a:lnTo>
                  <a:lnTo>
                    <a:pt x="223354" y="1895525"/>
                  </a:lnTo>
                  <a:lnTo>
                    <a:pt x="198869" y="1927479"/>
                  </a:lnTo>
                  <a:lnTo>
                    <a:pt x="240284" y="1927479"/>
                  </a:lnTo>
                  <a:lnTo>
                    <a:pt x="248412" y="1916861"/>
                  </a:lnTo>
                  <a:lnTo>
                    <a:pt x="284314" y="1882863"/>
                  </a:lnTo>
                  <a:lnTo>
                    <a:pt x="342392" y="1806473"/>
                  </a:lnTo>
                  <a:lnTo>
                    <a:pt x="378802" y="1771523"/>
                  </a:lnTo>
                  <a:lnTo>
                    <a:pt x="408254" y="1732546"/>
                  </a:lnTo>
                  <a:lnTo>
                    <a:pt x="444982" y="1696961"/>
                  </a:lnTo>
                  <a:lnTo>
                    <a:pt x="474764" y="1657350"/>
                  </a:lnTo>
                  <a:lnTo>
                    <a:pt x="511822" y="1621129"/>
                  </a:lnTo>
                  <a:lnTo>
                    <a:pt x="541947" y="1580896"/>
                  </a:lnTo>
                  <a:lnTo>
                    <a:pt x="579335" y="1544053"/>
                  </a:lnTo>
                  <a:lnTo>
                    <a:pt x="609777" y="1503184"/>
                  </a:lnTo>
                  <a:lnTo>
                    <a:pt x="647484" y="1465719"/>
                  </a:lnTo>
                  <a:lnTo>
                    <a:pt x="678256" y="1424228"/>
                  </a:lnTo>
                  <a:lnTo>
                    <a:pt x="716305" y="1386141"/>
                  </a:lnTo>
                  <a:lnTo>
                    <a:pt x="747395" y="1344015"/>
                  </a:lnTo>
                  <a:lnTo>
                    <a:pt x="824293" y="1266291"/>
                  </a:lnTo>
                  <a:lnTo>
                    <a:pt x="855878" y="1223251"/>
                  </a:lnTo>
                  <a:lnTo>
                    <a:pt x="933742" y="1143660"/>
                  </a:lnTo>
                  <a:lnTo>
                    <a:pt x="965809" y="1099693"/>
                  </a:lnTo>
                  <a:lnTo>
                    <a:pt x="1084300" y="977087"/>
                  </a:lnTo>
                  <a:lnTo>
                    <a:pt x="1117003" y="931875"/>
                  </a:lnTo>
                  <a:lnTo>
                    <a:pt x="1237424" y="805599"/>
                  </a:lnTo>
                  <a:lnTo>
                    <a:pt x="1270774" y="759180"/>
                  </a:lnTo>
                  <a:lnTo>
                    <a:pt x="1600123" y="406666"/>
                  </a:lnTo>
                  <a:lnTo>
                    <a:pt x="1634896" y="357530"/>
                  </a:lnTo>
                  <a:lnTo>
                    <a:pt x="1721154" y="263194"/>
                  </a:lnTo>
                  <a:lnTo>
                    <a:pt x="1721154" y="224231"/>
                  </a:lnTo>
                  <a:close/>
                </a:path>
                <a:path w="1721484" h="1927859">
                  <a:moveTo>
                    <a:pt x="1721154" y="0"/>
                  </a:moveTo>
                  <a:lnTo>
                    <a:pt x="0" y="1927479"/>
                  </a:lnTo>
                  <a:lnTo>
                    <a:pt x="42519" y="1927479"/>
                  </a:lnTo>
                  <a:lnTo>
                    <a:pt x="1721154" y="47650"/>
                  </a:lnTo>
                  <a:lnTo>
                    <a:pt x="1721154" y="0"/>
                  </a:lnTo>
                  <a:close/>
                </a:path>
              </a:pathLst>
            </a:custGeom>
            <a:solidFill>
              <a:srgbClr val="AE70B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609667" y="36395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9667" y="48387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09667" y="717883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609667" y="603884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468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30"/>
              </a:spcBef>
            </a:pPr>
            <a:r>
              <a:rPr spc="525" dirty="0"/>
              <a:t>Key</a:t>
            </a:r>
            <a:r>
              <a:rPr spc="235" dirty="0"/>
              <a:t> </a:t>
            </a:r>
            <a:r>
              <a:rPr spc="459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39389" y="3186232"/>
            <a:ext cx="10481310" cy="494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Transform</a:t>
            </a:r>
            <a:r>
              <a:rPr sz="27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static</a:t>
            </a:r>
            <a:r>
              <a:rPr sz="27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7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docs</a:t>
            </a:r>
            <a:r>
              <a:rPr sz="27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into</a:t>
            </a:r>
            <a:r>
              <a:rPr sz="275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conversational</a:t>
            </a:r>
            <a:r>
              <a:rPr sz="27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knowledge</a:t>
            </a:r>
            <a:r>
              <a:rPr sz="27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base</a:t>
            </a:r>
            <a:endParaRPr sz="2750">
              <a:latin typeface="Microsoft Sans Serif"/>
              <a:cs typeface="Microsoft Sans Serif"/>
            </a:endParaRPr>
          </a:p>
          <a:p>
            <a:pPr marL="12700" marR="1080135">
              <a:lnSpc>
                <a:spcPct val="268200"/>
              </a:lnSpc>
            </a:pP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Minimise</a:t>
            </a:r>
            <a:r>
              <a:rPr sz="27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hallucination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grounding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source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texts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Ensure</a:t>
            </a:r>
            <a:r>
              <a:rPr sz="27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verifiability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proper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citations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3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Enable</a:t>
            </a:r>
            <a:r>
              <a:rPr sz="27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real-</a:t>
            </a:r>
            <a:r>
              <a:rPr sz="27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time</a:t>
            </a:r>
            <a:r>
              <a:rPr sz="27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query</a:t>
            </a:r>
            <a:r>
              <a:rPr sz="27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resolution</a:t>
            </a:r>
            <a:r>
              <a:rPr sz="2750" spc="10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7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workers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40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Support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compliance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750" spc="2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Italian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regulations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(D.Lgs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81/08)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263757" y="3061905"/>
            <a:ext cx="7024370" cy="7225665"/>
          </a:xfrm>
          <a:custGeom>
            <a:avLst/>
            <a:gdLst/>
            <a:ahLst/>
            <a:cxnLst/>
            <a:rect l="l" t="t" r="r" b="b"/>
            <a:pathLst>
              <a:path w="7024369" h="7225665">
                <a:moveTo>
                  <a:pt x="598957" y="6825970"/>
                </a:moveTo>
                <a:lnTo>
                  <a:pt x="513626" y="6845198"/>
                </a:lnTo>
                <a:lnTo>
                  <a:pt x="311226" y="6885889"/>
                </a:lnTo>
                <a:lnTo>
                  <a:pt x="26466" y="6910921"/>
                </a:lnTo>
                <a:lnTo>
                  <a:pt x="0" y="6961505"/>
                </a:lnTo>
                <a:lnTo>
                  <a:pt x="284822" y="6936346"/>
                </a:lnTo>
                <a:lnTo>
                  <a:pt x="487299" y="6895503"/>
                </a:lnTo>
                <a:lnTo>
                  <a:pt x="598957" y="6825970"/>
                </a:lnTo>
                <a:close/>
              </a:path>
              <a:path w="7024369" h="7225665">
                <a:moveTo>
                  <a:pt x="747903" y="6780060"/>
                </a:moveTo>
                <a:lnTo>
                  <a:pt x="621639" y="6811848"/>
                </a:lnTo>
                <a:lnTo>
                  <a:pt x="598957" y="6825970"/>
                </a:lnTo>
                <a:lnTo>
                  <a:pt x="718959" y="6798919"/>
                </a:lnTo>
                <a:lnTo>
                  <a:pt x="747903" y="6780060"/>
                </a:lnTo>
                <a:close/>
              </a:path>
              <a:path w="7024369" h="7225665">
                <a:moveTo>
                  <a:pt x="1217041" y="6539268"/>
                </a:moveTo>
                <a:lnTo>
                  <a:pt x="997051" y="6613576"/>
                </a:lnTo>
                <a:lnTo>
                  <a:pt x="856335" y="6709448"/>
                </a:lnTo>
                <a:lnTo>
                  <a:pt x="747903" y="6780060"/>
                </a:lnTo>
                <a:lnTo>
                  <a:pt x="830211" y="6759346"/>
                </a:lnTo>
                <a:lnTo>
                  <a:pt x="971080" y="6663195"/>
                </a:lnTo>
                <a:lnTo>
                  <a:pt x="1189799" y="6591325"/>
                </a:lnTo>
                <a:lnTo>
                  <a:pt x="1217041" y="6539268"/>
                </a:lnTo>
                <a:close/>
              </a:path>
              <a:path w="7024369" h="7225665">
                <a:moveTo>
                  <a:pt x="1374355" y="6912102"/>
                </a:moveTo>
                <a:lnTo>
                  <a:pt x="1279499" y="6939039"/>
                </a:lnTo>
                <a:lnTo>
                  <a:pt x="1141349" y="7029996"/>
                </a:lnTo>
                <a:lnTo>
                  <a:pt x="935342" y="7077570"/>
                </a:lnTo>
                <a:lnTo>
                  <a:pt x="732345" y="7119417"/>
                </a:lnTo>
                <a:lnTo>
                  <a:pt x="446900" y="7145756"/>
                </a:lnTo>
                <a:lnTo>
                  <a:pt x="505485" y="7206843"/>
                </a:lnTo>
                <a:lnTo>
                  <a:pt x="706501" y="7168807"/>
                </a:lnTo>
                <a:lnTo>
                  <a:pt x="909688" y="7126618"/>
                </a:lnTo>
                <a:lnTo>
                  <a:pt x="1114958" y="7080428"/>
                </a:lnTo>
                <a:lnTo>
                  <a:pt x="1251165" y="6993191"/>
                </a:lnTo>
                <a:lnTo>
                  <a:pt x="1374355" y="6912102"/>
                </a:lnTo>
                <a:close/>
              </a:path>
              <a:path w="7024369" h="7225665">
                <a:moveTo>
                  <a:pt x="1500949" y="6871983"/>
                </a:moveTo>
                <a:lnTo>
                  <a:pt x="1389291" y="6902272"/>
                </a:lnTo>
                <a:lnTo>
                  <a:pt x="1374355" y="6912102"/>
                </a:lnTo>
                <a:lnTo>
                  <a:pt x="1492211" y="6878637"/>
                </a:lnTo>
                <a:lnTo>
                  <a:pt x="1500949" y="6871983"/>
                </a:lnTo>
                <a:close/>
              </a:path>
              <a:path w="7024369" h="7225665">
                <a:moveTo>
                  <a:pt x="1637652" y="6058103"/>
                </a:moveTo>
                <a:lnTo>
                  <a:pt x="1476032" y="6202616"/>
                </a:lnTo>
                <a:lnTo>
                  <a:pt x="1408785" y="6331115"/>
                </a:lnTo>
                <a:lnTo>
                  <a:pt x="1276680" y="6419228"/>
                </a:lnTo>
                <a:lnTo>
                  <a:pt x="1249654" y="6470866"/>
                </a:lnTo>
                <a:lnTo>
                  <a:pt x="1381950" y="6382398"/>
                </a:lnTo>
                <a:lnTo>
                  <a:pt x="1516862" y="6288938"/>
                </a:lnTo>
                <a:lnTo>
                  <a:pt x="1637652" y="6058103"/>
                </a:lnTo>
                <a:close/>
              </a:path>
              <a:path w="7024369" h="7225665">
                <a:moveTo>
                  <a:pt x="1642821" y="6763893"/>
                </a:moveTo>
                <a:lnTo>
                  <a:pt x="1500949" y="6871983"/>
                </a:lnTo>
                <a:lnTo>
                  <a:pt x="1600365" y="6845020"/>
                </a:lnTo>
                <a:lnTo>
                  <a:pt x="1642821" y="6763893"/>
                </a:lnTo>
                <a:close/>
              </a:path>
              <a:path w="7024369" h="7225665">
                <a:moveTo>
                  <a:pt x="1947672" y="5465673"/>
                </a:moveTo>
                <a:lnTo>
                  <a:pt x="1685353" y="5966955"/>
                </a:lnTo>
                <a:lnTo>
                  <a:pt x="1874532" y="5797181"/>
                </a:lnTo>
                <a:lnTo>
                  <a:pt x="1947672" y="5465673"/>
                </a:lnTo>
                <a:close/>
              </a:path>
              <a:path w="7024369" h="7225665">
                <a:moveTo>
                  <a:pt x="2048002" y="6314808"/>
                </a:moveTo>
                <a:lnTo>
                  <a:pt x="1908213" y="6417602"/>
                </a:lnTo>
                <a:lnTo>
                  <a:pt x="1838998" y="6549872"/>
                </a:lnTo>
                <a:lnTo>
                  <a:pt x="1705114" y="6641363"/>
                </a:lnTo>
                <a:lnTo>
                  <a:pt x="1669592" y="6709232"/>
                </a:lnTo>
                <a:lnTo>
                  <a:pt x="1827809" y="6571259"/>
                </a:lnTo>
                <a:lnTo>
                  <a:pt x="1988489" y="6428537"/>
                </a:lnTo>
                <a:lnTo>
                  <a:pt x="2048002" y="6314808"/>
                </a:lnTo>
                <a:close/>
              </a:path>
              <a:path w="7024369" h="7225665">
                <a:moveTo>
                  <a:pt x="2486368" y="6517983"/>
                </a:moveTo>
                <a:lnTo>
                  <a:pt x="2325103" y="6661798"/>
                </a:lnTo>
                <a:lnTo>
                  <a:pt x="2236533" y="6831063"/>
                </a:lnTo>
                <a:lnTo>
                  <a:pt x="2105698" y="6916737"/>
                </a:lnTo>
                <a:lnTo>
                  <a:pt x="1966048" y="6991858"/>
                </a:lnTo>
                <a:lnTo>
                  <a:pt x="1822488" y="7101853"/>
                </a:lnTo>
                <a:lnTo>
                  <a:pt x="1684362" y="7201446"/>
                </a:lnTo>
                <a:lnTo>
                  <a:pt x="1644764" y="7222337"/>
                </a:lnTo>
                <a:lnTo>
                  <a:pt x="1759889" y="7221474"/>
                </a:lnTo>
                <a:lnTo>
                  <a:pt x="1893455" y="7130580"/>
                </a:lnTo>
                <a:lnTo>
                  <a:pt x="2042515" y="7037476"/>
                </a:lnTo>
                <a:lnTo>
                  <a:pt x="2182101" y="6935063"/>
                </a:lnTo>
                <a:lnTo>
                  <a:pt x="2342083" y="6793700"/>
                </a:lnTo>
                <a:lnTo>
                  <a:pt x="2486368" y="6517983"/>
                </a:lnTo>
                <a:close/>
              </a:path>
              <a:path w="7024369" h="7225665">
                <a:moveTo>
                  <a:pt x="2507284" y="5354980"/>
                </a:moveTo>
                <a:lnTo>
                  <a:pt x="2403322" y="5635803"/>
                </a:lnTo>
                <a:lnTo>
                  <a:pt x="2428595" y="5587504"/>
                </a:lnTo>
                <a:lnTo>
                  <a:pt x="2507284" y="5354980"/>
                </a:lnTo>
                <a:close/>
              </a:path>
              <a:path w="7024369" h="7225665">
                <a:moveTo>
                  <a:pt x="2872892" y="6820217"/>
                </a:moveTo>
                <a:lnTo>
                  <a:pt x="2734348" y="6920624"/>
                </a:lnTo>
                <a:lnTo>
                  <a:pt x="2666403" y="7050481"/>
                </a:lnTo>
                <a:lnTo>
                  <a:pt x="2522524" y="7133679"/>
                </a:lnTo>
                <a:lnTo>
                  <a:pt x="2477566" y="7219582"/>
                </a:lnTo>
                <a:lnTo>
                  <a:pt x="2489530" y="7224103"/>
                </a:lnTo>
                <a:lnTo>
                  <a:pt x="2627934" y="7123976"/>
                </a:lnTo>
                <a:lnTo>
                  <a:pt x="2789821" y="6978967"/>
                </a:lnTo>
                <a:lnTo>
                  <a:pt x="2872892" y="6820217"/>
                </a:lnTo>
                <a:close/>
              </a:path>
              <a:path w="7024369" h="7225665">
                <a:moveTo>
                  <a:pt x="2962325" y="1992820"/>
                </a:moveTo>
                <a:lnTo>
                  <a:pt x="2849054" y="2209266"/>
                </a:lnTo>
                <a:lnTo>
                  <a:pt x="2666187" y="2723057"/>
                </a:lnTo>
                <a:lnTo>
                  <a:pt x="2160016" y="4895558"/>
                </a:lnTo>
                <a:lnTo>
                  <a:pt x="2020252" y="5326977"/>
                </a:lnTo>
                <a:lnTo>
                  <a:pt x="2148763" y="5081397"/>
                </a:lnTo>
                <a:lnTo>
                  <a:pt x="2689987" y="2841942"/>
                </a:lnTo>
                <a:lnTo>
                  <a:pt x="2848953" y="2373807"/>
                </a:lnTo>
                <a:lnTo>
                  <a:pt x="2962325" y="1992820"/>
                </a:lnTo>
                <a:close/>
              </a:path>
              <a:path w="7024369" h="7225665">
                <a:moveTo>
                  <a:pt x="3287674" y="2384564"/>
                </a:moveTo>
                <a:lnTo>
                  <a:pt x="3127794" y="2690101"/>
                </a:lnTo>
                <a:lnTo>
                  <a:pt x="2999181" y="3291941"/>
                </a:lnTo>
                <a:lnTo>
                  <a:pt x="2565958" y="5160670"/>
                </a:lnTo>
                <a:lnTo>
                  <a:pt x="2507284" y="5354980"/>
                </a:lnTo>
                <a:lnTo>
                  <a:pt x="2586736" y="5120970"/>
                </a:lnTo>
                <a:lnTo>
                  <a:pt x="3023997" y="3244519"/>
                </a:lnTo>
                <a:lnTo>
                  <a:pt x="3184398" y="2773654"/>
                </a:lnTo>
                <a:lnTo>
                  <a:pt x="3287674" y="2384564"/>
                </a:lnTo>
                <a:close/>
              </a:path>
              <a:path w="7024369" h="7225665">
                <a:moveTo>
                  <a:pt x="3291573" y="5855792"/>
                </a:moveTo>
                <a:lnTo>
                  <a:pt x="3140849" y="6143828"/>
                </a:lnTo>
                <a:lnTo>
                  <a:pt x="3076219" y="6431674"/>
                </a:lnTo>
                <a:lnTo>
                  <a:pt x="3148800" y="6292977"/>
                </a:lnTo>
                <a:lnTo>
                  <a:pt x="3291573" y="5855792"/>
                </a:lnTo>
                <a:close/>
              </a:path>
              <a:path w="7024369" h="7225665">
                <a:moveTo>
                  <a:pt x="3380803" y="6890486"/>
                </a:moveTo>
                <a:lnTo>
                  <a:pt x="3215729" y="7041604"/>
                </a:lnTo>
                <a:lnTo>
                  <a:pt x="3120186" y="7224166"/>
                </a:lnTo>
                <a:lnTo>
                  <a:pt x="3165437" y="7219874"/>
                </a:lnTo>
                <a:lnTo>
                  <a:pt x="3238690" y="7162063"/>
                </a:lnTo>
                <a:lnTo>
                  <a:pt x="3380803" y="6890486"/>
                </a:lnTo>
                <a:close/>
              </a:path>
              <a:path w="7024369" h="7225665">
                <a:moveTo>
                  <a:pt x="3509010" y="4947247"/>
                </a:moveTo>
                <a:lnTo>
                  <a:pt x="3291573" y="5855792"/>
                </a:lnTo>
                <a:lnTo>
                  <a:pt x="3321748" y="5798134"/>
                </a:lnTo>
                <a:lnTo>
                  <a:pt x="3509010" y="4947247"/>
                </a:lnTo>
                <a:close/>
              </a:path>
              <a:path w="7024369" h="7225665">
                <a:moveTo>
                  <a:pt x="3901173" y="3485680"/>
                </a:moveTo>
                <a:lnTo>
                  <a:pt x="3797477" y="3683825"/>
                </a:lnTo>
                <a:lnTo>
                  <a:pt x="3509010" y="4947247"/>
                </a:lnTo>
                <a:lnTo>
                  <a:pt x="3760533" y="3918762"/>
                </a:lnTo>
                <a:lnTo>
                  <a:pt x="3901173" y="3485680"/>
                </a:lnTo>
                <a:close/>
              </a:path>
              <a:path w="7024369" h="7225665">
                <a:moveTo>
                  <a:pt x="4093984" y="2076361"/>
                </a:moveTo>
                <a:lnTo>
                  <a:pt x="3903421" y="2248763"/>
                </a:lnTo>
                <a:lnTo>
                  <a:pt x="3610381" y="2808744"/>
                </a:lnTo>
                <a:lnTo>
                  <a:pt x="3212642" y="4089247"/>
                </a:lnTo>
                <a:lnTo>
                  <a:pt x="2917545" y="5365318"/>
                </a:lnTo>
                <a:lnTo>
                  <a:pt x="2777198" y="5797867"/>
                </a:lnTo>
                <a:lnTo>
                  <a:pt x="2687828" y="6133020"/>
                </a:lnTo>
                <a:lnTo>
                  <a:pt x="2880068" y="5765635"/>
                </a:lnTo>
                <a:lnTo>
                  <a:pt x="3426523" y="3516198"/>
                </a:lnTo>
                <a:lnTo>
                  <a:pt x="3565575" y="3086125"/>
                </a:lnTo>
                <a:lnTo>
                  <a:pt x="4093984" y="2076361"/>
                </a:lnTo>
                <a:close/>
              </a:path>
              <a:path w="7024369" h="7225665">
                <a:moveTo>
                  <a:pt x="4259783" y="3813848"/>
                </a:moveTo>
                <a:lnTo>
                  <a:pt x="4236161" y="3859009"/>
                </a:lnTo>
                <a:lnTo>
                  <a:pt x="4038943" y="4427613"/>
                </a:lnTo>
                <a:lnTo>
                  <a:pt x="3661892" y="5997270"/>
                </a:lnTo>
                <a:lnTo>
                  <a:pt x="3556889" y="6389649"/>
                </a:lnTo>
                <a:lnTo>
                  <a:pt x="3490201" y="6681444"/>
                </a:lnTo>
                <a:lnTo>
                  <a:pt x="3625989" y="6421945"/>
                </a:lnTo>
                <a:lnTo>
                  <a:pt x="4109758" y="4292282"/>
                </a:lnTo>
                <a:lnTo>
                  <a:pt x="4259783" y="3813848"/>
                </a:lnTo>
                <a:close/>
              </a:path>
              <a:path w="7024369" h="7225665">
                <a:moveTo>
                  <a:pt x="4410735" y="2511933"/>
                </a:moveTo>
                <a:lnTo>
                  <a:pt x="4219359" y="2685885"/>
                </a:lnTo>
                <a:lnTo>
                  <a:pt x="4083469" y="2945574"/>
                </a:lnTo>
                <a:lnTo>
                  <a:pt x="4002925" y="3291230"/>
                </a:lnTo>
                <a:lnTo>
                  <a:pt x="4410735" y="2511933"/>
                </a:lnTo>
                <a:close/>
              </a:path>
              <a:path w="7024369" h="7225665">
                <a:moveTo>
                  <a:pt x="4594784" y="1584998"/>
                </a:moveTo>
                <a:lnTo>
                  <a:pt x="4381017" y="1692186"/>
                </a:lnTo>
                <a:lnTo>
                  <a:pt x="4205071" y="1864067"/>
                </a:lnTo>
                <a:lnTo>
                  <a:pt x="4111599" y="2042680"/>
                </a:lnTo>
                <a:lnTo>
                  <a:pt x="4290453" y="1865261"/>
                </a:lnTo>
                <a:lnTo>
                  <a:pt x="4464367" y="1697266"/>
                </a:lnTo>
                <a:lnTo>
                  <a:pt x="4594784" y="1584998"/>
                </a:lnTo>
                <a:close/>
              </a:path>
              <a:path w="7024369" h="7225665">
                <a:moveTo>
                  <a:pt x="4641812" y="4124680"/>
                </a:moveTo>
                <a:lnTo>
                  <a:pt x="4641329" y="4125620"/>
                </a:lnTo>
                <a:lnTo>
                  <a:pt x="4488231" y="4609909"/>
                </a:lnTo>
                <a:lnTo>
                  <a:pt x="4018915" y="6355867"/>
                </a:lnTo>
                <a:lnTo>
                  <a:pt x="3903395" y="6768363"/>
                </a:lnTo>
                <a:lnTo>
                  <a:pt x="3664585" y="7224725"/>
                </a:lnTo>
                <a:lnTo>
                  <a:pt x="3751567" y="7222858"/>
                </a:lnTo>
                <a:lnTo>
                  <a:pt x="3913962" y="6912521"/>
                </a:lnTo>
                <a:lnTo>
                  <a:pt x="4038117" y="6510934"/>
                </a:lnTo>
                <a:lnTo>
                  <a:pt x="4513034" y="4562500"/>
                </a:lnTo>
                <a:lnTo>
                  <a:pt x="4641812" y="4124680"/>
                </a:lnTo>
                <a:close/>
              </a:path>
              <a:path w="7024369" h="7225665">
                <a:moveTo>
                  <a:pt x="4670272" y="1522907"/>
                </a:moveTo>
                <a:lnTo>
                  <a:pt x="4645622" y="1542630"/>
                </a:lnTo>
                <a:lnTo>
                  <a:pt x="4594784" y="1584998"/>
                </a:lnTo>
                <a:lnTo>
                  <a:pt x="4631715" y="1569199"/>
                </a:lnTo>
                <a:lnTo>
                  <a:pt x="4670272" y="1522907"/>
                </a:lnTo>
                <a:close/>
              </a:path>
              <a:path w="7024369" h="7225665">
                <a:moveTo>
                  <a:pt x="5010124" y="1311744"/>
                </a:moveTo>
                <a:lnTo>
                  <a:pt x="4799901" y="1412151"/>
                </a:lnTo>
                <a:lnTo>
                  <a:pt x="4670272" y="1522907"/>
                </a:lnTo>
                <a:lnTo>
                  <a:pt x="4879505" y="1424393"/>
                </a:lnTo>
                <a:lnTo>
                  <a:pt x="5010124" y="1311744"/>
                </a:lnTo>
                <a:close/>
              </a:path>
              <a:path w="7024369" h="7225665">
                <a:moveTo>
                  <a:pt x="5025796" y="6102629"/>
                </a:moveTo>
                <a:lnTo>
                  <a:pt x="4725263" y="7224763"/>
                </a:lnTo>
                <a:lnTo>
                  <a:pt x="4742116" y="7219963"/>
                </a:lnTo>
                <a:lnTo>
                  <a:pt x="4770971" y="7164806"/>
                </a:lnTo>
                <a:lnTo>
                  <a:pt x="5025796" y="6102629"/>
                </a:lnTo>
                <a:close/>
              </a:path>
              <a:path w="7024369" h="7225665">
                <a:moveTo>
                  <a:pt x="5117554" y="4256430"/>
                </a:moveTo>
                <a:lnTo>
                  <a:pt x="4965154" y="4547667"/>
                </a:lnTo>
                <a:lnTo>
                  <a:pt x="4791989" y="5070310"/>
                </a:lnTo>
                <a:lnTo>
                  <a:pt x="4419587" y="6631076"/>
                </a:lnTo>
                <a:lnTo>
                  <a:pt x="4293235" y="7036867"/>
                </a:lnTo>
                <a:lnTo>
                  <a:pt x="4197718" y="7219404"/>
                </a:lnTo>
                <a:lnTo>
                  <a:pt x="4281094" y="7224433"/>
                </a:lnTo>
                <a:lnTo>
                  <a:pt x="4334954" y="6957149"/>
                </a:lnTo>
                <a:lnTo>
                  <a:pt x="4531157" y="6417881"/>
                </a:lnTo>
                <a:lnTo>
                  <a:pt x="4892002" y="5043538"/>
                </a:lnTo>
                <a:lnTo>
                  <a:pt x="5033911" y="4608004"/>
                </a:lnTo>
                <a:lnTo>
                  <a:pt x="5117554" y="4256430"/>
                </a:lnTo>
                <a:close/>
              </a:path>
              <a:path w="7024369" h="7225665">
                <a:moveTo>
                  <a:pt x="5118481" y="1269022"/>
                </a:moveTo>
                <a:lnTo>
                  <a:pt x="5053749" y="1283157"/>
                </a:lnTo>
                <a:lnTo>
                  <a:pt x="5010124" y="1311744"/>
                </a:lnTo>
                <a:lnTo>
                  <a:pt x="5043373" y="1302969"/>
                </a:lnTo>
                <a:lnTo>
                  <a:pt x="5118481" y="1269022"/>
                </a:lnTo>
                <a:close/>
              </a:path>
              <a:path w="7024369" h="7225665">
                <a:moveTo>
                  <a:pt x="5245913" y="7024167"/>
                </a:moveTo>
                <a:lnTo>
                  <a:pt x="5186413" y="7220051"/>
                </a:lnTo>
                <a:lnTo>
                  <a:pt x="5200701" y="7220128"/>
                </a:lnTo>
                <a:lnTo>
                  <a:pt x="5211470" y="7199554"/>
                </a:lnTo>
                <a:lnTo>
                  <a:pt x="5245913" y="7024167"/>
                </a:lnTo>
                <a:close/>
              </a:path>
              <a:path w="7024369" h="7225665">
                <a:moveTo>
                  <a:pt x="5299646" y="5113667"/>
                </a:moveTo>
                <a:lnTo>
                  <a:pt x="5232070" y="5242826"/>
                </a:lnTo>
                <a:lnTo>
                  <a:pt x="5025796" y="6102629"/>
                </a:lnTo>
                <a:lnTo>
                  <a:pt x="5299646" y="5113667"/>
                </a:lnTo>
                <a:close/>
              </a:path>
              <a:path w="7024369" h="7225665">
                <a:moveTo>
                  <a:pt x="5485587" y="4594009"/>
                </a:moveTo>
                <a:lnTo>
                  <a:pt x="5416791" y="4725467"/>
                </a:lnTo>
                <a:lnTo>
                  <a:pt x="5299646" y="5113667"/>
                </a:lnTo>
                <a:lnTo>
                  <a:pt x="5415813" y="4891684"/>
                </a:lnTo>
                <a:lnTo>
                  <a:pt x="5485587" y="4594009"/>
                </a:lnTo>
                <a:close/>
              </a:path>
              <a:path w="7024369" h="7225665">
                <a:moveTo>
                  <a:pt x="5566168" y="3590887"/>
                </a:moveTo>
                <a:lnTo>
                  <a:pt x="5374513" y="3765397"/>
                </a:lnTo>
                <a:lnTo>
                  <a:pt x="5370398" y="3773246"/>
                </a:lnTo>
                <a:lnTo>
                  <a:pt x="5540019" y="3640861"/>
                </a:lnTo>
                <a:lnTo>
                  <a:pt x="5566168" y="3590887"/>
                </a:lnTo>
                <a:close/>
              </a:path>
              <a:path w="7024369" h="7225665">
                <a:moveTo>
                  <a:pt x="5849632" y="4062679"/>
                </a:moveTo>
                <a:lnTo>
                  <a:pt x="5668823" y="4243844"/>
                </a:lnTo>
                <a:lnTo>
                  <a:pt x="5599328" y="4376661"/>
                </a:lnTo>
                <a:lnTo>
                  <a:pt x="5779719" y="4196270"/>
                </a:lnTo>
                <a:lnTo>
                  <a:pt x="5849632" y="4062679"/>
                </a:lnTo>
                <a:close/>
              </a:path>
              <a:path w="7024369" h="7225665">
                <a:moveTo>
                  <a:pt x="6104661" y="3767074"/>
                </a:moveTo>
                <a:lnTo>
                  <a:pt x="5939447" y="3891051"/>
                </a:lnTo>
                <a:lnTo>
                  <a:pt x="5870397" y="4023004"/>
                </a:lnTo>
                <a:lnTo>
                  <a:pt x="6040590" y="3889502"/>
                </a:lnTo>
                <a:lnTo>
                  <a:pt x="6104661" y="3767074"/>
                </a:lnTo>
                <a:close/>
              </a:path>
              <a:path w="7024369" h="7225665">
                <a:moveTo>
                  <a:pt x="6351625" y="3569043"/>
                </a:moveTo>
                <a:lnTo>
                  <a:pt x="6280670" y="3595065"/>
                </a:lnTo>
                <a:lnTo>
                  <a:pt x="6128499" y="3721531"/>
                </a:lnTo>
                <a:lnTo>
                  <a:pt x="6104661" y="3767074"/>
                </a:lnTo>
                <a:lnTo>
                  <a:pt x="6255512" y="3643160"/>
                </a:lnTo>
                <a:lnTo>
                  <a:pt x="6351625" y="3569043"/>
                </a:lnTo>
                <a:close/>
              </a:path>
              <a:path w="7024369" h="7225665">
                <a:moveTo>
                  <a:pt x="6421209" y="2943021"/>
                </a:moveTo>
                <a:lnTo>
                  <a:pt x="6336639" y="2967672"/>
                </a:lnTo>
                <a:lnTo>
                  <a:pt x="6122873" y="3047479"/>
                </a:lnTo>
                <a:lnTo>
                  <a:pt x="5962815" y="3161614"/>
                </a:lnTo>
                <a:lnTo>
                  <a:pt x="5811202" y="3286988"/>
                </a:lnTo>
                <a:lnTo>
                  <a:pt x="5656567" y="3418141"/>
                </a:lnTo>
                <a:lnTo>
                  <a:pt x="5630075" y="3468763"/>
                </a:lnTo>
                <a:lnTo>
                  <a:pt x="5784354" y="3338284"/>
                </a:lnTo>
                <a:lnTo>
                  <a:pt x="5935599" y="3213633"/>
                </a:lnTo>
                <a:lnTo>
                  <a:pt x="6095276" y="3100235"/>
                </a:lnTo>
                <a:lnTo>
                  <a:pt x="6308636" y="3021190"/>
                </a:lnTo>
                <a:lnTo>
                  <a:pt x="6421209" y="2943021"/>
                </a:lnTo>
                <a:close/>
              </a:path>
              <a:path w="7024369" h="7225665">
                <a:moveTo>
                  <a:pt x="6486042" y="4928260"/>
                </a:moveTo>
                <a:lnTo>
                  <a:pt x="6305893" y="5108168"/>
                </a:lnTo>
                <a:lnTo>
                  <a:pt x="6169495" y="5368823"/>
                </a:lnTo>
                <a:lnTo>
                  <a:pt x="6076772" y="5710364"/>
                </a:lnTo>
                <a:lnTo>
                  <a:pt x="5857252" y="6321590"/>
                </a:lnTo>
                <a:lnTo>
                  <a:pt x="5658993" y="7220877"/>
                </a:lnTo>
                <a:lnTo>
                  <a:pt x="5701093" y="7222604"/>
                </a:lnTo>
                <a:lnTo>
                  <a:pt x="6137364" y="5594578"/>
                </a:lnTo>
                <a:lnTo>
                  <a:pt x="6486042" y="4928260"/>
                </a:lnTo>
                <a:close/>
              </a:path>
              <a:path w="7024369" h="7225665">
                <a:moveTo>
                  <a:pt x="6564668" y="2888030"/>
                </a:moveTo>
                <a:lnTo>
                  <a:pt x="6452159" y="2911271"/>
                </a:lnTo>
                <a:lnTo>
                  <a:pt x="6421209" y="2943021"/>
                </a:lnTo>
                <a:lnTo>
                  <a:pt x="6559347" y="2898190"/>
                </a:lnTo>
                <a:lnTo>
                  <a:pt x="6564668" y="2888030"/>
                </a:lnTo>
                <a:close/>
              </a:path>
              <a:path w="7024369" h="7225665">
                <a:moveTo>
                  <a:pt x="6635699" y="1848358"/>
                </a:moveTo>
                <a:lnTo>
                  <a:pt x="6262878" y="1903425"/>
                </a:lnTo>
                <a:lnTo>
                  <a:pt x="6028728" y="1994776"/>
                </a:lnTo>
                <a:lnTo>
                  <a:pt x="5802173" y="2099030"/>
                </a:lnTo>
                <a:lnTo>
                  <a:pt x="5561203" y="2203437"/>
                </a:lnTo>
                <a:lnTo>
                  <a:pt x="5316728" y="2314524"/>
                </a:lnTo>
                <a:lnTo>
                  <a:pt x="5147183" y="2474150"/>
                </a:lnTo>
                <a:lnTo>
                  <a:pt x="4973498" y="2641727"/>
                </a:lnTo>
                <a:lnTo>
                  <a:pt x="4783912" y="2812275"/>
                </a:lnTo>
                <a:lnTo>
                  <a:pt x="4670869" y="3028289"/>
                </a:lnTo>
                <a:lnTo>
                  <a:pt x="4489602" y="3210331"/>
                </a:lnTo>
                <a:lnTo>
                  <a:pt x="4419892" y="3507892"/>
                </a:lnTo>
                <a:lnTo>
                  <a:pt x="4668698" y="3032442"/>
                </a:lnTo>
                <a:lnTo>
                  <a:pt x="4859553" y="2859468"/>
                </a:lnTo>
                <a:lnTo>
                  <a:pt x="4969154" y="2650020"/>
                </a:lnTo>
                <a:lnTo>
                  <a:pt x="5141557" y="2484920"/>
                </a:lnTo>
                <a:lnTo>
                  <a:pt x="5388622" y="2368867"/>
                </a:lnTo>
                <a:lnTo>
                  <a:pt x="5553164" y="2218779"/>
                </a:lnTo>
                <a:lnTo>
                  <a:pt x="5793041" y="2116480"/>
                </a:lnTo>
                <a:lnTo>
                  <a:pt x="6018555" y="2014232"/>
                </a:lnTo>
                <a:lnTo>
                  <a:pt x="6332779" y="1934197"/>
                </a:lnTo>
                <a:lnTo>
                  <a:pt x="6635699" y="1848358"/>
                </a:lnTo>
                <a:close/>
              </a:path>
              <a:path w="7024369" h="7225665">
                <a:moveTo>
                  <a:pt x="6681508" y="1842998"/>
                </a:moveTo>
                <a:lnTo>
                  <a:pt x="6653085" y="1842528"/>
                </a:lnTo>
                <a:lnTo>
                  <a:pt x="6635699" y="1848358"/>
                </a:lnTo>
                <a:lnTo>
                  <a:pt x="6651599" y="1845386"/>
                </a:lnTo>
                <a:lnTo>
                  <a:pt x="6681508" y="1842998"/>
                </a:lnTo>
                <a:close/>
              </a:path>
              <a:path w="7024369" h="7225665">
                <a:moveTo>
                  <a:pt x="6862419" y="5268582"/>
                </a:moveTo>
                <a:lnTo>
                  <a:pt x="6696303" y="5412981"/>
                </a:lnTo>
                <a:lnTo>
                  <a:pt x="6582118" y="5631167"/>
                </a:lnTo>
                <a:lnTo>
                  <a:pt x="6515049" y="5932398"/>
                </a:lnTo>
                <a:lnTo>
                  <a:pt x="6306617" y="6330696"/>
                </a:lnTo>
                <a:lnTo>
                  <a:pt x="6106465" y="7225106"/>
                </a:lnTo>
                <a:lnTo>
                  <a:pt x="6174537" y="7225106"/>
                </a:lnTo>
                <a:lnTo>
                  <a:pt x="6420777" y="6285585"/>
                </a:lnTo>
                <a:lnTo>
                  <a:pt x="6531648" y="5900661"/>
                </a:lnTo>
                <a:lnTo>
                  <a:pt x="6862419" y="5268582"/>
                </a:lnTo>
                <a:close/>
              </a:path>
              <a:path w="7024369" h="7225665">
                <a:moveTo>
                  <a:pt x="6976643" y="3799014"/>
                </a:moveTo>
                <a:lnTo>
                  <a:pt x="6769214" y="3866705"/>
                </a:lnTo>
                <a:lnTo>
                  <a:pt x="6621107" y="3985374"/>
                </a:lnTo>
                <a:lnTo>
                  <a:pt x="6470104" y="4109593"/>
                </a:lnTo>
                <a:lnTo>
                  <a:pt x="6304623" y="4234078"/>
                </a:lnTo>
                <a:lnTo>
                  <a:pt x="6214364" y="4406544"/>
                </a:lnTo>
                <a:lnTo>
                  <a:pt x="6054699" y="4547336"/>
                </a:lnTo>
                <a:lnTo>
                  <a:pt x="5801169" y="5031816"/>
                </a:lnTo>
                <a:lnTo>
                  <a:pt x="5705830" y="5378348"/>
                </a:lnTo>
                <a:lnTo>
                  <a:pt x="5458536" y="6042647"/>
                </a:lnTo>
                <a:lnTo>
                  <a:pt x="5245913" y="7024167"/>
                </a:lnTo>
                <a:lnTo>
                  <a:pt x="5753227" y="5287784"/>
                </a:lnTo>
                <a:lnTo>
                  <a:pt x="6211367" y="4412272"/>
                </a:lnTo>
                <a:lnTo>
                  <a:pt x="6379121" y="4283456"/>
                </a:lnTo>
                <a:lnTo>
                  <a:pt x="6464617" y="4120070"/>
                </a:lnTo>
                <a:lnTo>
                  <a:pt x="6614452" y="3998099"/>
                </a:lnTo>
                <a:lnTo>
                  <a:pt x="6840182" y="3922814"/>
                </a:lnTo>
                <a:lnTo>
                  <a:pt x="6976643" y="3799014"/>
                </a:lnTo>
                <a:close/>
              </a:path>
              <a:path w="7024369" h="7225665">
                <a:moveTo>
                  <a:pt x="7016597" y="52235"/>
                </a:moveTo>
                <a:lnTo>
                  <a:pt x="7014743" y="1003"/>
                </a:lnTo>
                <a:lnTo>
                  <a:pt x="6986600" y="0"/>
                </a:lnTo>
                <a:lnTo>
                  <a:pt x="6350889" y="9588"/>
                </a:lnTo>
                <a:lnTo>
                  <a:pt x="5796140" y="28829"/>
                </a:lnTo>
                <a:lnTo>
                  <a:pt x="5394426" y="111696"/>
                </a:lnTo>
                <a:lnTo>
                  <a:pt x="5077320" y="197243"/>
                </a:lnTo>
                <a:lnTo>
                  <a:pt x="4758194" y="286651"/>
                </a:lnTo>
                <a:lnTo>
                  <a:pt x="4502861" y="418490"/>
                </a:lnTo>
                <a:lnTo>
                  <a:pt x="4262602" y="521525"/>
                </a:lnTo>
                <a:lnTo>
                  <a:pt x="4030548" y="636257"/>
                </a:lnTo>
                <a:lnTo>
                  <a:pt x="3851529" y="786638"/>
                </a:lnTo>
                <a:lnTo>
                  <a:pt x="3680307" y="949490"/>
                </a:lnTo>
                <a:lnTo>
                  <a:pt x="3324123" y="1301432"/>
                </a:lnTo>
                <a:lnTo>
                  <a:pt x="3254425" y="1434642"/>
                </a:lnTo>
                <a:lnTo>
                  <a:pt x="3611524" y="1080922"/>
                </a:lnTo>
                <a:lnTo>
                  <a:pt x="3784600" y="914527"/>
                </a:lnTo>
                <a:lnTo>
                  <a:pt x="3964609" y="762279"/>
                </a:lnTo>
                <a:lnTo>
                  <a:pt x="4130040" y="610489"/>
                </a:lnTo>
                <a:lnTo>
                  <a:pt x="4371137" y="505853"/>
                </a:lnTo>
                <a:lnTo>
                  <a:pt x="4598073" y="400888"/>
                </a:lnTo>
                <a:lnTo>
                  <a:pt x="4851095" y="273469"/>
                </a:lnTo>
                <a:lnTo>
                  <a:pt x="5250027" y="195910"/>
                </a:lnTo>
                <a:lnTo>
                  <a:pt x="5577002" y="91490"/>
                </a:lnTo>
                <a:lnTo>
                  <a:pt x="6059170" y="46609"/>
                </a:lnTo>
                <a:lnTo>
                  <a:pt x="6700888" y="25539"/>
                </a:lnTo>
                <a:lnTo>
                  <a:pt x="7016597" y="52235"/>
                </a:lnTo>
                <a:close/>
              </a:path>
              <a:path w="7024369" h="7225665">
                <a:moveTo>
                  <a:pt x="7016991" y="489750"/>
                </a:moveTo>
                <a:lnTo>
                  <a:pt x="7014896" y="466356"/>
                </a:lnTo>
                <a:lnTo>
                  <a:pt x="6556197" y="466394"/>
                </a:lnTo>
                <a:lnTo>
                  <a:pt x="5996216" y="495630"/>
                </a:lnTo>
                <a:lnTo>
                  <a:pt x="5588698" y="589584"/>
                </a:lnTo>
                <a:lnTo>
                  <a:pt x="5202821" y="642200"/>
                </a:lnTo>
                <a:lnTo>
                  <a:pt x="4966830" y="737082"/>
                </a:lnTo>
                <a:lnTo>
                  <a:pt x="4739322" y="843153"/>
                </a:lnTo>
                <a:lnTo>
                  <a:pt x="4497540" y="949083"/>
                </a:lnTo>
                <a:lnTo>
                  <a:pt x="4331297" y="1102423"/>
                </a:lnTo>
                <a:lnTo>
                  <a:pt x="4150309" y="1256538"/>
                </a:lnTo>
                <a:lnTo>
                  <a:pt x="3606482" y="1775345"/>
                </a:lnTo>
                <a:lnTo>
                  <a:pt x="3446322" y="2081390"/>
                </a:lnTo>
                <a:lnTo>
                  <a:pt x="3660317" y="1864194"/>
                </a:lnTo>
                <a:lnTo>
                  <a:pt x="3772331" y="1650161"/>
                </a:lnTo>
                <a:lnTo>
                  <a:pt x="3951084" y="1472907"/>
                </a:lnTo>
                <a:lnTo>
                  <a:pt x="4124134" y="1306563"/>
                </a:lnTo>
                <a:lnTo>
                  <a:pt x="4304728" y="1153198"/>
                </a:lnTo>
                <a:lnTo>
                  <a:pt x="4470590" y="1000582"/>
                </a:lnTo>
                <a:lnTo>
                  <a:pt x="4711992" y="895362"/>
                </a:lnTo>
                <a:lnTo>
                  <a:pt x="4939144" y="789990"/>
                </a:lnTo>
                <a:lnTo>
                  <a:pt x="5174767" y="695820"/>
                </a:lnTo>
                <a:lnTo>
                  <a:pt x="5577598" y="610806"/>
                </a:lnTo>
                <a:lnTo>
                  <a:pt x="5984887" y="517258"/>
                </a:lnTo>
                <a:lnTo>
                  <a:pt x="6544665" y="488429"/>
                </a:lnTo>
                <a:lnTo>
                  <a:pt x="7016991" y="489750"/>
                </a:lnTo>
                <a:close/>
              </a:path>
              <a:path w="7024369" h="7225665">
                <a:moveTo>
                  <a:pt x="7017131" y="900328"/>
                </a:moveTo>
                <a:lnTo>
                  <a:pt x="6704622" y="894918"/>
                </a:lnTo>
                <a:lnTo>
                  <a:pt x="6221996" y="940689"/>
                </a:lnTo>
                <a:lnTo>
                  <a:pt x="5825274" y="1014006"/>
                </a:lnTo>
                <a:lnTo>
                  <a:pt x="5509704" y="1096619"/>
                </a:lnTo>
                <a:lnTo>
                  <a:pt x="5272379" y="1194041"/>
                </a:lnTo>
                <a:lnTo>
                  <a:pt x="5118481" y="1269022"/>
                </a:lnTo>
                <a:lnTo>
                  <a:pt x="5348668" y="1212608"/>
                </a:lnTo>
                <a:lnTo>
                  <a:pt x="5584495" y="1118044"/>
                </a:lnTo>
                <a:lnTo>
                  <a:pt x="5988304" y="1031163"/>
                </a:lnTo>
                <a:lnTo>
                  <a:pt x="6406820" y="943584"/>
                </a:lnTo>
                <a:lnTo>
                  <a:pt x="6954291" y="938250"/>
                </a:lnTo>
                <a:lnTo>
                  <a:pt x="7014946" y="931900"/>
                </a:lnTo>
                <a:lnTo>
                  <a:pt x="7017131" y="900328"/>
                </a:lnTo>
                <a:close/>
              </a:path>
              <a:path w="7024369" h="7225665">
                <a:moveTo>
                  <a:pt x="7017791" y="1364729"/>
                </a:moveTo>
                <a:lnTo>
                  <a:pt x="7015188" y="1342326"/>
                </a:lnTo>
                <a:lnTo>
                  <a:pt x="6909879" y="1351813"/>
                </a:lnTo>
                <a:lnTo>
                  <a:pt x="6449161" y="1383093"/>
                </a:lnTo>
                <a:lnTo>
                  <a:pt x="6038723" y="1455254"/>
                </a:lnTo>
                <a:lnTo>
                  <a:pt x="5817857" y="1548625"/>
                </a:lnTo>
                <a:lnTo>
                  <a:pt x="5514581" y="1607743"/>
                </a:lnTo>
                <a:lnTo>
                  <a:pt x="5343410" y="1743100"/>
                </a:lnTo>
                <a:lnTo>
                  <a:pt x="5112778" y="1855139"/>
                </a:lnTo>
                <a:lnTo>
                  <a:pt x="4867402" y="1967941"/>
                </a:lnTo>
                <a:lnTo>
                  <a:pt x="4697031" y="2129180"/>
                </a:lnTo>
                <a:lnTo>
                  <a:pt x="4522597" y="2298166"/>
                </a:lnTo>
                <a:lnTo>
                  <a:pt x="4428579" y="2477820"/>
                </a:lnTo>
                <a:lnTo>
                  <a:pt x="4608525" y="2298293"/>
                </a:lnTo>
                <a:lnTo>
                  <a:pt x="4784268" y="2126805"/>
                </a:lnTo>
                <a:lnTo>
                  <a:pt x="4955819" y="1963331"/>
                </a:lnTo>
                <a:lnTo>
                  <a:pt x="5202263" y="1848485"/>
                </a:lnTo>
                <a:lnTo>
                  <a:pt x="5445125" y="1740458"/>
                </a:lnTo>
                <a:lnTo>
                  <a:pt x="5673496" y="1632762"/>
                </a:lnTo>
                <a:lnTo>
                  <a:pt x="6000458" y="1528381"/>
                </a:lnTo>
                <a:lnTo>
                  <a:pt x="6332868" y="1413598"/>
                </a:lnTo>
                <a:lnTo>
                  <a:pt x="6806438" y="1385138"/>
                </a:lnTo>
                <a:lnTo>
                  <a:pt x="7017791" y="1364729"/>
                </a:lnTo>
                <a:close/>
              </a:path>
              <a:path w="7024369" h="7225665">
                <a:moveTo>
                  <a:pt x="7019036" y="3772776"/>
                </a:moveTo>
                <a:lnTo>
                  <a:pt x="7001319" y="3779240"/>
                </a:lnTo>
                <a:lnTo>
                  <a:pt x="6976643" y="3799014"/>
                </a:lnTo>
                <a:lnTo>
                  <a:pt x="6993483" y="3794214"/>
                </a:lnTo>
                <a:lnTo>
                  <a:pt x="7014134" y="3782136"/>
                </a:lnTo>
                <a:lnTo>
                  <a:pt x="7019036" y="3772776"/>
                </a:lnTo>
                <a:close/>
              </a:path>
              <a:path w="7024369" h="7225665">
                <a:moveTo>
                  <a:pt x="7020204" y="4400550"/>
                </a:moveTo>
                <a:lnTo>
                  <a:pt x="7018947" y="4375569"/>
                </a:lnTo>
                <a:lnTo>
                  <a:pt x="6837604" y="4448175"/>
                </a:lnTo>
                <a:lnTo>
                  <a:pt x="6750507" y="4614621"/>
                </a:lnTo>
                <a:lnTo>
                  <a:pt x="6580937" y="4746917"/>
                </a:lnTo>
                <a:lnTo>
                  <a:pt x="6577647" y="4753203"/>
                </a:lnTo>
                <a:lnTo>
                  <a:pt x="6745922" y="4623384"/>
                </a:lnTo>
                <a:lnTo>
                  <a:pt x="6899288" y="4494657"/>
                </a:lnTo>
                <a:lnTo>
                  <a:pt x="7020204" y="4400550"/>
                </a:lnTo>
                <a:close/>
              </a:path>
              <a:path w="7024369" h="7225665">
                <a:moveTo>
                  <a:pt x="7020750" y="2235606"/>
                </a:moveTo>
                <a:lnTo>
                  <a:pt x="6790779" y="2264194"/>
                </a:lnTo>
                <a:lnTo>
                  <a:pt x="6489141" y="2347569"/>
                </a:lnTo>
                <a:lnTo>
                  <a:pt x="6250737" y="2447074"/>
                </a:lnTo>
                <a:lnTo>
                  <a:pt x="6010567" y="2549918"/>
                </a:lnTo>
                <a:lnTo>
                  <a:pt x="5797969" y="2627490"/>
                </a:lnTo>
                <a:lnTo>
                  <a:pt x="5639219" y="2739110"/>
                </a:lnTo>
                <a:lnTo>
                  <a:pt x="5489118" y="2861614"/>
                </a:lnTo>
                <a:lnTo>
                  <a:pt x="5336197" y="2989491"/>
                </a:lnTo>
                <a:lnTo>
                  <a:pt x="5247779" y="3158452"/>
                </a:lnTo>
                <a:lnTo>
                  <a:pt x="5055565" y="3334016"/>
                </a:lnTo>
                <a:lnTo>
                  <a:pt x="5053127" y="3338677"/>
                </a:lnTo>
                <a:lnTo>
                  <a:pt x="5244249" y="3165183"/>
                </a:lnTo>
                <a:lnTo>
                  <a:pt x="5399062" y="3033699"/>
                </a:lnTo>
                <a:lnTo>
                  <a:pt x="5550903" y="2907881"/>
                </a:lnTo>
                <a:lnTo>
                  <a:pt x="5711241" y="2793238"/>
                </a:lnTo>
                <a:lnTo>
                  <a:pt x="5857748" y="2677617"/>
                </a:lnTo>
                <a:lnTo>
                  <a:pt x="6001880" y="2566517"/>
                </a:lnTo>
                <a:lnTo>
                  <a:pt x="6240907" y="2465844"/>
                </a:lnTo>
                <a:lnTo>
                  <a:pt x="6560071" y="2376386"/>
                </a:lnTo>
                <a:lnTo>
                  <a:pt x="6872110" y="2300503"/>
                </a:lnTo>
                <a:lnTo>
                  <a:pt x="7014235" y="2275433"/>
                </a:lnTo>
                <a:lnTo>
                  <a:pt x="7020750" y="2235606"/>
                </a:lnTo>
                <a:close/>
              </a:path>
              <a:path w="7024369" h="7225665">
                <a:moveTo>
                  <a:pt x="7022439" y="2780195"/>
                </a:moveTo>
                <a:lnTo>
                  <a:pt x="7018655" y="2705252"/>
                </a:lnTo>
                <a:lnTo>
                  <a:pt x="6703034" y="2787942"/>
                </a:lnTo>
                <a:lnTo>
                  <a:pt x="6564668" y="2888030"/>
                </a:lnTo>
                <a:lnTo>
                  <a:pt x="6760553" y="2842387"/>
                </a:lnTo>
                <a:lnTo>
                  <a:pt x="7022439" y="2780195"/>
                </a:lnTo>
                <a:close/>
              </a:path>
              <a:path w="7024369" h="7225665">
                <a:moveTo>
                  <a:pt x="7022922" y="1820570"/>
                </a:moveTo>
                <a:lnTo>
                  <a:pt x="7015277" y="1780400"/>
                </a:lnTo>
                <a:lnTo>
                  <a:pt x="6681508" y="1842998"/>
                </a:lnTo>
                <a:lnTo>
                  <a:pt x="7022922" y="1820570"/>
                </a:lnTo>
                <a:close/>
              </a:path>
              <a:path w="7024369" h="7225665">
                <a:moveTo>
                  <a:pt x="7024052" y="3215360"/>
                </a:moveTo>
                <a:lnTo>
                  <a:pt x="6928586" y="3233458"/>
                </a:lnTo>
                <a:lnTo>
                  <a:pt x="6770713" y="3343402"/>
                </a:lnTo>
                <a:lnTo>
                  <a:pt x="6560147" y="3417087"/>
                </a:lnTo>
                <a:lnTo>
                  <a:pt x="6403492" y="3524694"/>
                </a:lnTo>
                <a:lnTo>
                  <a:pt x="6351625" y="3569043"/>
                </a:lnTo>
                <a:lnTo>
                  <a:pt x="6508661" y="3515474"/>
                </a:lnTo>
                <a:lnTo>
                  <a:pt x="6655219" y="3399764"/>
                </a:lnTo>
                <a:lnTo>
                  <a:pt x="6887756" y="3311487"/>
                </a:lnTo>
                <a:lnTo>
                  <a:pt x="7019303" y="3251835"/>
                </a:lnTo>
                <a:lnTo>
                  <a:pt x="7024052" y="3215360"/>
                </a:lnTo>
                <a:close/>
              </a:path>
              <a:path w="7024369" h="7225665">
                <a:moveTo>
                  <a:pt x="7024230" y="5988164"/>
                </a:moveTo>
                <a:lnTo>
                  <a:pt x="7005167" y="6026912"/>
                </a:lnTo>
                <a:lnTo>
                  <a:pt x="6986041" y="6067120"/>
                </a:lnTo>
                <a:lnTo>
                  <a:pt x="6967423" y="6107658"/>
                </a:lnTo>
                <a:lnTo>
                  <a:pt x="6949287" y="6148514"/>
                </a:lnTo>
                <a:lnTo>
                  <a:pt x="6931609" y="6189675"/>
                </a:lnTo>
                <a:lnTo>
                  <a:pt x="6914388" y="6231128"/>
                </a:lnTo>
                <a:lnTo>
                  <a:pt x="6897598" y="6272860"/>
                </a:lnTo>
                <a:lnTo>
                  <a:pt x="6881215" y="6314872"/>
                </a:lnTo>
                <a:lnTo>
                  <a:pt x="6865239" y="6357137"/>
                </a:lnTo>
                <a:lnTo>
                  <a:pt x="6834441" y="6442392"/>
                </a:lnTo>
                <a:lnTo>
                  <a:pt x="6805041" y="6528536"/>
                </a:lnTo>
                <a:lnTo>
                  <a:pt x="6776948" y="6615468"/>
                </a:lnTo>
                <a:lnTo>
                  <a:pt x="6750024" y="6703111"/>
                </a:lnTo>
                <a:lnTo>
                  <a:pt x="6711543" y="6835661"/>
                </a:lnTo>
                <a:lnTo>
                  <a:pt x="6663156" y="7013956"/>
                </a:lnTo>
                <a:lnTo>
                  <a:pt x="6609232" y="7225106"/>
                </a:lnTo>
                <a:lnTo>
                  <a:pt x="6642265" y="7225106"/>
                </a:lnTo>
                <a:lnTo>
                  <a:pt x="6693548" y="7024408"/>
                </a:lnTo>
                <a:lnTo>
                  <a:pt x="6741617" y="6847294"/>
                </a:lnTo>
                <a:lnTo>
                  <a:pt x="6779831" y="6715607"/>
                </a:lnTo>
                <a:lnTo>
                  <a:pt x="6806565" y="6628562"/>
                </a:lnTo>
                <a:lnTo>
                  <a:pt x="6834467" y="6542202"/>
                </a:lnTo>
                <a:lnTo>
                  <a:pt x="6863639" y="6456642"/>
                </a:lnTo>
                <a:lnTo>
                  <a:pt x="6894233" y="6371971"/>
                </a:lnTo>
                <a:lnTo>
                  <a:pt x="6910083" y="6329997"/>
                </a:lnTo>
                <a:lnTo>
                  <a:pt x="6926339" y="6288290"/>
                </a:lnTo>
                <a:lnTo>
                  <a:pt x="6943014" y="6246838"/>
                </a:lnTo>
                <a:lnTo>
                  <a:pt x="6960108" y="6205677"/>
                </a:lnTo>
                <a:lnTo>
                  <a:pt x="6977659" y="6164808"/>
                </a:lnTo>
                <a:lnTo>
                  <a:pt x="6995655" y="6124245"/>
                </a:lnTo>
                <a:lnTo>
                  <a:pt x="7014134" y="6083998"/>
                </a:lnTo>
                <a:lnTo>
                  <a:pt x="7024230" y="6062738"/>
                </a:lnTo>
                <a:lnTo>
                  <a:pt x="7024230" y="5988164"/>
                </a:lnTo>
                <a:close/>
              </a:path>
              <a:path w="7024369" h="7225665">
                <a:moveTo>
                  <a:pt x="7024230" y="5029606"/>
                </a:moveTo>
                <a:lnTo>
                  <a:pt x="6958228" y="5085486"/>
                </a:lnTo>
                <a:lnTo>
                  <a:pt x="6889610" y="5216626"/>
                </a:lnTo>
                <a:lnTo>
                  <a:pt x="7024230" y="5098326"/>
                </a:lnTo>
                <a:lnTo>
                  <a:pt x="7024230" y="5029606"/>
                </a:lnTo>
                <a:close/>
              </a:path>
            </a:pathLst>
          </a:custGeom>
          <a:solidFill>
            <a:srgbClr val="AE7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57780" y="325050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7780" y="44497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557780" y="66728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19"/>
                </a:lnTo>
                <a:lnTo>
                  <a:pt x="29398" y="62393"/>
                </a:lnTo>
                <a:lnTo>
                  <a:pt x="62381" y="29406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6"/>
                </a:lnTo>
                <a:lnTo>
                  <a:pt x="275340" y="62393"/>
                </a:lnTo>
                <a:lnTo>
                  <a:pt x="296971" y="104219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57780" y="556128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57780" y="778724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14512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130"/>
              </a:spcBef>
            </a:pPr>
            <a:r>
              <a:rPr spc="450" dirty="0"/>
              <a:t>Dataset:</a:t>
            </a:r>
            <a:r>
              <a:rPr spc="240" dirty="0"/>
              <a:t> </a:t>
            </a:r>
            <a:r>
              <a:rPr spc="480" dirty="0"/>
              <a:t>Italian</a:t>
            </a:r>
            <a:r>
              <a:rPr spc="240" dirty="0"/>
              <a:t> </a:t>
            </a:r>
            <a:r>
              <a:rPr spc="470" dirty="0"/>
              <a:t>Industrial</a:t>
            </a:r>
            <a:r>
              <a:rPr spc="245" dirty="0"/>
              <a:t> </a:t>
            </a:r>
            <a:r>
              <a:rPr spc="455" dirty="0"/>
              <a:t>Safety</a:t>
            </a:r>
            <a:r>
              <a:rPr spc="240" dirty="0"/>
              <a:t> </a:t>
            </a:r>
            <a:r>
              <a:rPr spc="400" dirty="0"/>
              <a:t>Corpus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4478" y="3583113"/>
            <a:ext cx="11682095" cy="4378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50" b="1" spc="135" dirty="0">
                <a:solidFill>
                  <a:srgbClr val="FFFFFF"/>
                </a:solidFill>
                <a:latin typeface="Arial Narrow"/>
                <a:cs typeface="Arial Narrow"/>
              </a:rPr>
              <a:t>MANUALE_RISCHI_SPECIFICI:</a:t>
            </a:r>
            <a:r>
              <a:rPr sz="2750" b="1" spc="3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Microclimate,</a:t>
            </a:r>
            <a:r>
              <a:rPr sz="2750" spc="3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noise,</a:t>
            </a:r>
            <a:r>
              <a:rPr sz="2750" spc="3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vibrations,</a:t>
            </a:r>
            <a:r>
              <a:rPr sz="2750" spc="3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ergonomics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310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 marR="927100">
              <a:lnSpc>
                <a:spcPct val="134100"/>
              </a:lnSpc>
            </a:pPr>
            <a:r>
              <a:rPr sz="2750" b="1" spc="130" dirty="0">
                <a:solidFill>
                  <a:srgbClr val="FFFFFF"/>
                </a:solidFill>
                <a:latin typeface="Arial Narrow"/>
                <a:cs typeface="Arial Narrow"/>
              </a:rPr>
              <a:t>RISCHI_DI_CANTIERE</a:t>
            </a:r>
            <a:r>
              <a:rPr sz="27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750" spc="23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Construction</a:t>
            </a:r>
            <a:r>
              <a:rPr sz="2750" spc="2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site</a:t>
            </a:r>
            <a:r>
              <a:rPr sz="2750" spc="2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750" spc="2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(heights,</a:t>
            </a:r>
            <a:r>
              <a:rPr sz="2750" spc="2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excavation, machinery)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40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750" b="1" spc="130" dirty="0">
                <a:solidFill>
                  <a:srgbClr val="FFFFFF"/>
                </a:solidFill>
                <a:latin typeface="Arial Narrow"/>
                <a:cs typeface="Arial Narrow"/>
              </a:rPr>
              <a:t>D.Lgs</a:t>
            </a:r>
            <a:r>
              <a:rPr sz="2750" b="1" spc="27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750" b="1" spc="350" dirty="0">
                <a:solidFill>
                  <a:srgbClr val="FFFFFF"/>
                </a:solidFill>
                <a:latin typeface="Arial Narrow"/>
                <a:cs typeface="Arial Narrow"/>
              </a:rPr>
              <a:t>81/08</a:t>
            </a:r>
            <a:r>
              <a:rPr sz="2750" b="1" spc="28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750" b="1" spc="155" dirty="0">
                <a:solidFill>
                  <a:srgbClr val="FFFFFF"/>
                </a:solidFill>
                <a:latin typeface="Arial Narrow"/>
                <a:cs typeface="Arial Narrow"/>
              </a:rPr>
              <a:t>Updates</a:t>
            </a:r>
            <a:r>
              <a:rPr sz="27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7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Legal</a:t>
            </a:r>
            <a:r>
              <a:rPr sz="2750" spc="1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obligations</a:t>
            </a:r>
            <a:r>
              <a:rPr sz="27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7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employers</a:t>
            </a:r>
            <a:r>
              <a:rPr sz="2750" spc="1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sz="2750" spc="1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supervisors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3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750" b="1" spc="130" dirty="0">
                <a:solidFill>
                  <a:srgbClr val="FFFFFF"/>
                </a:solidFill>
                <a:latin typeface="Arial Narrow"/>
                <a:cs typeface="Arial Narrow"/>
              </a:rPr>
              <a:t>Challenge</a:t>
            </a:r>
            <a:r>
              <a:rPr sz="27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7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Unstructured</a:t>
            </a:r>
            <a:r>
              <a:rPr sz="27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text</a:t>
            </a:r>
            <a:r>
              <a:rPr sz="27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7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Italian</a:t>
            </a:r>
            <a:r>
              <a:rPr sz="27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legal</a:t>
            </a:r>
            <a:r>
              <a:rPr sz="27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&amp;</a:t>
            </a:r>
            <a:r>
              <a:rPr sz="27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technical</a:t>
            </a:r>
            <a:r>
              <a:rPr sz="27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terminology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457113" y="3830091"/>
            <a:ext cx="5831205" cy="6457315"/>
          </a:xfrm>
          <a:custGeom>
            <a:avLst/>
            <a:gdLst/>
            <a:ahLst/>
            <a:cxnLst/>
            <a:rect l="l" t="t" r="r" b="b"/>
            <a:pathLst>
              <a:path w="5831205" h="6457315">
                <a:moveTo>
                  <a:pt x="387159" y="6063158"/>
                </a:moveTo>
                <a:lnTo>
                  <a:pt x="221970" y="6205791"/>
                </a:lnTo>
                <a:lnTo>
                  <a:pt x="154724" y="6334303"/>
                </a:lnTo>
                <a:lnTo>
                  <a:pt x="19037" y="6420536"/>
                </a:lnTo>
                <a:lnTo>
                  <a:pt x="0" y="6456921"/>
                </a:lnTo>
                <a:lnTo>
                  <a:pt x="15963" y="6456921"/>
                </a:lnTo>
                <a:lnTo>
                  <a:pt x="127889" y="6385573"/>
                </a:lnTo>
                <a:lnTo>
                  <a:pt x="266369" y="6293980"/>
                </a:lnTo>
                <a:lnTo>
                  <a:pt x="387159" y="6063158"/>
                </a:lnTo>
                <a:close/>
              </a:path>
              <a:path w="5831205" h="6457315">
                <a:moveTo>
                  <a:pt x="687539" y="5465673"/>
                </a:moveTo>
                <a:lnTo>
                  <a:pt x="425221" y="5966955"/>
                </a:lnTo>
                <a:lnTo>
                  <a:pt x="614400" y="5797181"/>
                </a:lnTo>
                <a:lnTo>
                  <a:pt x="687539" y="5465673"/>
                </a:lnTo>
                <a:close/>
              </a:path>
              <a:path w="5831205" h="6457315">
                <a:moveTo>
                  <a:pt x="796442" y="6319304"/>
                </a:moveTo>
                <a:lnTo>
                  <a:pt x="653072" y="6420218"/>
                </a:lnTo>
                <a:lnTo>
                  <a:pt x="633869" y="6456921"/>
                </a:lnTo>
                <a:lnTo>
                  <a:pt x="709066" y="6456921"/>
                </a:lnTo>
                <a:lnTo>
                  <a:pt x="736930" y="6433020"/>
                </a:lnTo>
                <a:lnTo>
                  <a:pt x="796442" y="6319304"/>
                </a:lnTo>
                <a:close/>
              </a:path>
              <a:path w="5831205" h="6457315">
                <a:moveTo>
                  <a:pt x="1247152" y="5354980"/>
                </a:moveTo>
                <a:lnTo>
                  <a:pt x="1143190" y="5635803"/>
                </a:lnTo>
                <a:lnTo>
                  <a:pt x="1168463" y="5587517"/>
                </a:lnTo>
                <a:lnTo>
                  <a:pt x="1247152" y="5354980"/>
                </a:lnTo>
                <a:close/>
              </a:path>
              <a:path w="5831205" h="6457315">
                <a:moveTo>
                  <a:pt x="1702193" y="1992820"/>
                </a:moveTo>
                <a:lnTo>
                  <a:pt x="1588922" y="2209266"/>
                </a:lnTo>
                <a:lnTo>
                  <a:pt x="1406055" y="2723057"/>
                </a:lnTo>
                <a:lnTo>
                  <a:pt x="899883" y="4895558"/>
                </a:lnTo>
                <a:lnTo>
                  <a:pt x="760120" y="5326977"/>
                </a:lnTo>
                <a:lnTo>
                  <a:pt x="888631" y="5081397"/>
                </a:lnTo>
                <a:lnTo>
                  <a:pt x="1429842" y="2841942"/>
                </a:lnTo>
                <a:lnTo>
                  <a:pt x="1588820" y="2373820"/>
                </a:lnTo>
                <a:lnTo>
                  <a:pt x="1702193" y="1992820"/>
                </a:lnTo>
                <a:close/>
              </a:path>
              <a:path w="5831205" h="6457315">
                <a:moveTo>
                  <a:pt x="2027542" y="2384564"/>
                </a:moveTo>
                <a:lnTo>
                  <a:pt x="1867649" y="2690101"/>
                </a:lnTo>
                <a:lnTo>
                  <a:pt x="1739049" y="3291941"/>
                </a:lnTo>
                <a:lnTo>
                  <a:pt x="1305826" y="5160670"/>
                </a:lnTo>
                <a:lnTo>
                  <a:pt x="1247152" y="5354980"/>
                </a:lnTo>
                <a:lnTo>
                  <a:pt x="1326603" y="5120970"/>
                </a:lnTo>
                <a:lnTo>
                  <a:pt x="1763864" y="3244519"/>
                </a:lnTo>
                <a:lnTo>
                  <a:pt x="1924265" y="2773654"/>
                </a:lnTo>
                <a:lnTo>
                  <a:pt x="2027542" y="2384564"/>
                </a:lnTo>
                <a:close/>
              </a:path>
              <a:path w="5831205" h="6457315">
                <a:moveTo>
                  <a:pt x="2031441" y="5855792"/>
                </a:moveTo>
                <a:lnTo>
                  <a:pt x="1880717" y="6143828"/>
                </a:lnTo>
                <a:lnTo>
                  <a:pt x="1816087" y="6431674"/>
                </a:lnTo>
                <a:lnTo>
                  <a:pt x="1888667" y="6292977"/>
                </a:lnTo>
                <a:lnTo>
                  <a:pt x="2031441" y="5855792"/>
                </a:lnTo>
                <a:close/>
              </a:path>
              <a:path w="5831205" h="6457315">
                <a:moveTo>
                  <a:pt x="2248878" y="4947247"/>
                </a:moveTo>
                <a:lnTo>
                  <a:pt x="2031441" y="5855792"/>
                </a:lnTo>
                <a:lnTo>
                  <a:pt x="2061616" y="5798134"/>
                </a:lnTo>
                <a:lnTo>
                  <a:pt x="2248878" y="4947247"/>
                </a:lnTo>
                <a:close/>
              </a:path>
              <a:path w="5831205" h="6457315">
                <a:moveTo>
                  <a:pt x="2641028" y="3485680"/>
                </a:moveTo>
                <a:lnTo>
                  <a:pt x="2537345" y="3683825"/>
                </a:lnTo>
                <a:lnTo>
                  <a:pt x="2248878" y="4947247"/>
                </a:lnTo>
                <a:lnTo>
                  <a:pt x="2500401" y="3918762"/>
                </a:lnTo>
                <a:lnTo>
                  <a:pt x="2641028" y="3485680"/>
                </a:lnTo>
                <a:close/>
              </a:path>
              <a:path w="5831205" h="6457315">
                <a:moveTo>
                  <a:pt x="2833840" y="2076361"/>
                </a:moveTo>
                <a:lnTo>
                  <a:pt x="2643289" y="2248763"/>
                </a:lnTo>
                <a:lnTo>
                  <a:pt x="2350249" y="2808744"/>
                </a:lnTo>
                <a:lnTo>
                  <a:pt x="1952510" y="4089260"/>
                </a:lnTo>
                <a:lnTo>
                  <a:pt x="1657413" y="5365331"/>
                </a:lnTo>
                <a:lnTo>
                  <a:pt x="1517065" y="5797867"/>
                </a:lnTo>
                <a:lnTo>
                  <a:pt x="1427683" y="6133020"/>
                </a:lnTo>
                <a:lnTo>
                  <a:pt x="1619935" y="5765635"/>
                </a:lnTo>
                <a:lnTo>
                  <a:pt x="2166378" y="3516198"/>
                </a:lnTo>
                <a:lnTo>
                  <a:pt x="2305431" y="3086125"/>
                </a:lnTo>
                <a:lnTo>
                  <a:pt x="2833840" y="2076361"/>
                </a:lnTo>
                <a:close/>
              </a:path>
              <a:path w="5831205" h="6457315">
                <a:moveTo>
                  <a:pt x="2999651" y="3813848"/>
                </a:moveTo>
                <a:lnTo>
                  <a:pt x="2976016" y="3859009"/>
                </a:lnTo>
                <a:lnTo>
                  <a:pt x="2778810" y="4427613"/>
                </a:lnTo>
                <a:lnTo>
                  <a:pt x="2401760" y="5997270"/>
                </a:lnTo>
                <a:lnTo>
                  <a:pt x="2296757" y="6389662"/>
                </a:lnTo>
                <a:lnTo>
                  <a:pt x="2277694" y="6453467"/>
                </a:lnTo>
                <a:lnTo>
                  <a:pt x="2349030" y="6454114"/>
                </a:lnTo>
                <a:lnTo>
                  <a:pt x="2365857" y="6421958"/>
                </a:lnTo>
                <a:lnTo>
                  <a:pt x="2849626" y="4292282"/>
                </a:lnTo>
                <a:lnTo>
                  <a:pt x="2999651" y="3813848"/>
                </a:lnTo>
                <a:close/>
              </a:path>
              <a:path w="5831205" h="6457315">
                <a:moveTo>
                  <a:pt x="3150590" y="2511933"/>
                </a:moveTo>
                <a:lnTo>
                  <a:pt x="2959227" y="2685885"/>
                </a:lnTo>
                <a:lnTo>
                  <a:pt x="2823337" y="2945574"/>
                </a:lnTo>
                <a:lnTo>
                  <a:pt x="2742793" y="3291230"/>
                </a:lnTo>
                <a:lnTo>
                  <a:pt x="3150590" y="2511933"/>
                </a:lnTo>
                <a:close/>
              </a:path>
              <a:path w="5831205" h="6457315">
                <a:moveTo>
                  <a:pt x="3334651" y="1584998"/>
                </a:moveTo>
                <a:lnTo>
                  <a:pt x="3120885" y="1692186"/>
                </a:lnTo>
                <a:lnTo>
                  <a:pt x="2944939" y="1864067"/>
                </a:lnTo>
                <a:lnTo>
                  <a:pt x="2851467" y="2042680"/>
                </a:lnTo>
                <a:lnTo>
                  <a:pt x="3030321" y="1865261"/>
                </a:lnTo>
                <a:lnTo>
                  <a:pt x="3204222" y="1697266"/>
                </a:lnTo>
                <a:lnTo>
                  <a:pt x="3334651" y="1584998"/>
                </a:lnTo>
                <a:close/>
              </a:path>
              <a:path w="5831205" h="6457315">
                <a:moveTo>
                  <a:pt x="3381679" y="4124693"/>
                </a:moveTo>
                <a:lnTo>
                  <a:pt x="3381184" y="4125620"/>
                </a:lnTo>
                <a:lnTo>
                  <a:pt x="3228098" y="4609922"/>
                </a:lnTo>
                <a:lnTo>
                  <a:pt x="2758783" y="6355880"/>
                </a:lnTo>
                <a:lnTo>
                  <a:pt x="2735313" y="6455499"/>
                </a:lnTo>
                <a:lnTo>
                  <a:pt x="2791930" y="6456883"/>
                </a:lnTo>
                <a:lnTo>
                  <a:pt x="3252901" y="4562500"/>
                </a:lnTo>
                <a:lnTo>
                  <a:pt x="3381679" y="4124693"/>
                </a:lnTo>
                <a:close/>
              </a:path>
              <a:path w="5831205" h="6457315">
                <a:moveTo>
                  <a:pt x="3410140" y="1522907"/>
                </a:moveTo>
                <a:lnTo>
                  <a:pt x="3385489" y="1542630"/>
                </a:lnTo>
                <a:lnTo>
                  <a:pt x="3334651" y="1584998"/>
                </a:lnTo>
                <a:lnTo>
                  <a:pt x="3371583" y="1569199"/>
                </a:lnTo>
                <a:lnTo>
                  <a:pt x="3410140" y="1522907"/>
                </a:lnTo>
                <a:close/>
              </a:path>
              <a:path w="5831205" h="6457315">
                <a:moveTo>
                  <a:pt x="3749979" y="1311744"/>
                </a:moveTo>
                <a:lnTo>
                  <a:pt x="3539769" y="1412151"/>
                </a:lnTo>
                <a:lnTo>
                  <a:pt x="3410140" y="1522907"/>
                </a:lnTo>
                <a:lnTo>
                  <a:pt x="3619360" y="1424393"/>
                </a:lnTo>
                <a:lnTo>
                  <a:pt x="3749979" y="1311744"/>
                </a:lnTo>
                <a:close/>
              </a:path>
              <a:path w="5831205" h="6457315">
                <a:moveTo>
                  <a:pt x="3765664" y="6102642"/>
                </a:moveTo>
                <a:lnTo>
                  <a:pt x="3669042" y="6451613"/>
                </a:lnTo>
                <a:lnTo>
                  <a:pt x="3683089" y="6452171"/>
                </a:lnTo>
                <a:lnTo>
                  <a:pt x="3765664" y="6102642"/>
                </a:lnTo>
                <a:close/>
              </a:path>
              <a:path w="5831205" h="6457315">
                <a:moveTo>
                  <a:pt x="3857421" y="4256430"/>
                </a:moveTo>
                <a:lnTo>
                  <a:pt x="3705009" y="4547667"/>
                </a:lnTo>
                <a:lnTo>
                  <a:pt x="3531857" y="5070310"/>
                </a:lnTo>
                <a:lnTo>
                  <a:pt x="3207766" y="6456578"/>
                </a:lnTo>
                <a:lnTo>
                  <a:pt x="3265119" y="6456553"/>
                </a:lnTo>
                <a:lnTo>
                  <a:pt x="3271024" y="6417881"/>
                </a:lnTo>
                <a:lnTo>
                  <a:pt x="3631869" y="5043538"/>
                </a:lnTo>
                <a:lnTo>
                  <a:pt x="3773779" y="4608017"/>
                </a:lnTo>
                <a:lnTo>
                  <a:pt x="3857421" y="4256430"/>
                </a:lnTo>
                <a:close/>
              </a:path>
              <a:path w="5831205" h="6457315">
                <a:moveTo>
                  <a:pt x="3858349" y="1269022"/>
                </a:moveTo>
                <a:lnTo>
                  <a:pt x="3793617" y="1283157"/>
                </a:lnTo>
                <a:lnTo>
                  <a:pt x="3749979" y="1311744"/>
                </a:lnTo>
                <a:lnTo>
                  <a:pt x="3783241" y="1302981"/>
                </a:lnTo>
                <a:lnTo>
                  <a:pt x="3858349" y="1269022"/>
                </a:lnTo>
                <a:close/>
              </a:path>
              <a:path w="5831205" h="6457315">
                <a:moveTo>
                  <a:pt x="4039514" y="5113667"/>
                </a:moveTo>
                <a:lnTo>
                  <a:pt x="3971925" y="5242826"/>
                </a:lnTo>
                <a:lnTo>
                  <a:pt x="3765664" y="6102642"/>
                </a:lnTo>
                <a:lnTo>
                  <a:pt x="4039514" y="5113667"/>
                </a:lnTo>
                <a:close/>
              </a:path>
              <a:path w="5831205" h="6457315">
                <a:moveTo>
                  <a:pt x="4225455" y="4594009"/>
                </a:moveTo>
                <a:lnTo>
                  <a:pt x="4156659" y="4725467"/>
                </a:lnTo>
                <a:lnTo>
                  <a:pt x="4039514" y="5113667"/>
                </a:lnTo>
                <a:lnTo>
                  <a:pt x="4155681" y="4891684"/>
                </a:lnTo>
                <a:lnTo>
                  <a:pt x="4225455" y="4594009"/>
                </a:lnTo>
                <a:close/>
              </a:path>
              <a:path w="5831205" h="6457315">
                <a:moveTo>
                  <a:pt x="4306036" y="3590887"/>
                </a:moveTo>
                <a:lnTo>
                  <a:pt x="4114381" y="3765397"/>
                </a:lnTo>
                <a:lnTo>
                  <a:pt x="4110266" y="3773259"/>
                </a:lnTo>
                <a:lnTo>
                  <a:pt x="4279887" y="3640861"/>
                </a:lnTo>
                <a:lnTo>
                  <a:pt x="4306036" y="3590887"/>
                </a:lnTo>
                <a:close/>
              </a:path>
              <a:path w="5831205" h="6457315">
                <a:moveTo>
                  <a:pt x="4589500" y="4062679"/>
                </a:moveTo>
                <a:lnTo>
                  <a:pt x="4408690" y="4243844"/>
                </a:lnTo>
                <a:lnTo>
                  <a:pt x="4339183" y="4376661"/>
                </a:lnTo>
                <a:lnTo>
                  <a:pt x="4519587" y="4196270"/>
                </a:lnTo>
                <a:lnTo>
                  <a:pt x="4589500" y="4062679"/>
                </a:lnTo>
                <a:close/>
              </a:path>
              <a:path w="5831205" h="6457315">
                <a:moveTo>
                  <a:pt x="4844529" y="3767074"/>
                </a:moveTo>
                <a:lnTo>
                  <a:pt x="4679315" y="3891051"/>
                </a:lnTo>
                <a:lnTo>
                  <a:pt x="4610265" y="4023004"/>
                </a:lnTo>
                <a:lnTo>
                  <a:pt x="4780458" y="3889502"/>
                </a:lnTo>
                <a:lnTo>
                  <a:pt x="4844529" y="3767074"/>
                </a:lnTo>
                <a:close/>
              </a:path>
              <a:path w="5831205" h="6457315">
                <a:moveTo>
                  <a:pt x="5091493" y="3569043"/>
                </a:moveTo>
                <a:lnTo>
                  <a:pt x="5020538" y="3595065"/>
                </a:lnTo>
                <a:lnTo>
                  <a:pt x="4868354" y="3721531"/>
                </a:lnTo>
                <a:lnTo>
                  <a:pt x="4844529" y="3767074"/>
                </a:lnTo>
                <a:lnTo>
                  <a:pt x="4995367" y="3643160"/>
                </a:lnTo>
                <a:lnTo>
                  <a:pt x="5091493" y="3569043"/>
                </a:lnTo>
                <a:close/>
              </a:path>
              <a:path w="5831205" h="6457315">
                <a:moveTo>
                  <a:pt x="5161077" y="2943021"/>
                </a:moveTo>
                <a:lnTo>
                  <a:pt x="5076507" y="2967672"/>
                </a:lnTo>
                <a:lnTo>
                  <a:pt x="4862741" y="3047479"/>
                </a:lnTo>
                <a:lnTo>
                  <a:pt x="4702683" y="3161614"/>
                </a:lnTo>
                <a:lnTo>
                  <a:pt x="4551070" y="3286988"/>
                </a:lnTo>
                <a:lnTo>
                  <a:pt x="4396435" y="3418154"/>
                </a:lnTo>
                <a:lnTo>
                  <a:pt x="4369943" y="3468776"/>
                </a:lnTo>
                <a:lnTo>
                  <a:pt x="4524222" y="3338284"/>
                </a:lnTo>
                <a:lnTo>
                  <a:pt x="4675454" y="3213633"/>
                </a:lnTo>
                <a:lnTo>
                  <a:pt x="4835131" y="3100235"/>
                </a:lnTo>
                <a:lnTo>
                  <a:pt x="5048504" y="3021190"/>
                </a:lnTo>
                <a:lnTo>
                  <a:pt x="5161077" y="2943021"/>
                </a:lnTo>
                <a:close/>
              </a:path>
              <a:path w="5831205" h="6457315">
                <a:moveTo>
                  <a:pt x="5225910" y="4928260"/>
                </a:moveTo>
                <a:lnTo>
                  <a:pt x="5045761" y="5108168"/>
                </a:lnTo>
                <a:lnTo>
                  <a:pt x="4909363" y="5368823"/>
                </a:lnTo>
                <a:lnTo>
                  <a:pt x="4816640" y="5710364"/>
                </a:lnTo>
                <a:lnTo>
                  <a:pt x="4597120" y="6321590"/>
                </a:lnTo>
                <a:lnTo>
                  <a:pt x="4569371" y="6456781"/>
                </a:lnTo>
                <a:lnTo>
                  <a:pt x="4642472" y="6454038"/>
                </a:lnTo>
                <a:lnTo>
                  <a:pt x="4877219" y="5594578"/>
                </a:lnTo>
                <a:lnTo>
                  <a:pt x="5225910" y="4928260"/>
                </a:lnTo>
                <a:close/>
              </a:path>
              <a:path w="5831205" h="6457315">
                <a:moveTo>
                  <a:pt x="5304523" y="2888030"/>
                </a:moveTo>
                <a:lnTo>
                  <a:pt x="5192026" y="2911271"/>
                </a:lnTo>
                <a:lnTo>
                  <a:pt x="5161077" y="2943021"/>
                </a:lnTo>
                <a:lnTo>
                  <a:pt x="5299202" y="2898203"/>
                </a:lnTo>
                <a:lnTo>
                  <a:pt x="5304523" y="2888030"/>
                </a:lnTo>
                <a:close/>
              </a:path>
              <a:path w="5831205" h="6457315">
                <a:moveTo>
                  <a:pt x="5375567" y="1848358"/>
                </a:moveTo>
                <a:lnTo>
                  <a:pt x="5002746" y="1903425"/>
                </a:lnTo>
                <a:lnTo>
                  <a:pt x="4768596" y="1994789"/>
                </a:lnTo>
                <a:lnTo>
                  <a:pt x="4542040" y="2099030"/>
                </a:lnTo>
                <a:lnTo>
                  <a:pt x="4301058" y="2203437"/>
                </a:lnTo>
                <a:lnTo>
                  <a:pt x="4056583" y="2314524"/>
                </a:lnTo>
                <a:lnTo>
                  <a:pt x="3887051" y="2474163"/>
                </a:lnTo>
                <a:lnTo>
                  <a:pt x="3713365" y="2641727"/>
                </a:lnTo>
                <a:lnTo>
                  <a:pt x="3523767" y="2812288"/>
                </a:lnTo>
                <a:lnTo>
                  <a:pt x="3410737" y="3028289"/>
                </a:lnTo>
                <a:lnTo>
                  <a:pt x="3229470" y="3210344"/>
                </a:lnTo>
                <a:lnTo>
                  <a:pt x="3159760" y="3507892"/>
                </a:lnTo>
                <a:lnTo>
                  <a:pt x="3408565" y="3032442"/>
                </a:lnTo>
                <a:lnTo>
                  <a:pt x="3599408" y="2859468"/>
                </a:lnTo>
                <a:lnTo>
                  <a:pt x="3709022" y="2650020"/>
                </a:lnTo>
                <a:lnTo>
                  <a:pt x="3881412" y="2484932"/>
                </a:lnTo>
                <a:lnTo>
                  <a:pt x="4128490" y="2368867"/>
                </a:lnTo>
                <a:lnTo>
                  <a:pt x="4293032" y="2218779"/>
                </a:lnTo>
                <a:lnTo>
                  <a:pt x="4532909" y="2116480"/>
                </a:lnTo>
                <a:lnTo>
                  <a:pt x="4758423" y="2014232"/>
                </a:lnTo>
                <a:lnTo>
                  <a:pt x="5072634" y="1934210"/>
                </a:lnTo>
                <a:lnTo>
                  <a:pt x="5375567" y="1848358"/>
                </a:lnTo>
                <a:close/>
              </a:path>
              <a:path w="5831205" h="6457315">
                <a:moveTo>
                  <a:pt x="5421376" y="1842998"/>
                </a:moveTo>
                <a:lnTo>
                  <a:pt x="5392953" y="1842528"/>
                </a:lnTo>
                <a:lnTo>
                  <a:pt x="5375567" y="1848358"/>
                </a:lnTo>
                <a:lnTo>
                  <a:pt x="5391455" y="1845386"/>
                </a:lnTo>
                <a:lnTo>
                  <a:pt x="5421376" y="1842998"/>
                </a:lnTo>
                <a:close/>
              </a:path>
              <a:path w="5831205" h="6457315">
                <a:moveTo>
                  <a:pt x="5602275" y="5268595"/>
                </a:moveTo>
                <a:lnTo>
                  <a:pt x="5436159" y="5412994"/>
                </a:lnTo>
                <a:lnTo>
                  <a:pt x="5321986" y="5631167"/>
                </a:lnTo>
                <a:lnTo>
                  <a:pt x="5254917" y="5932398"/>
                </a:lnTo>
                <a:lnTo>
                  <a:pt x="5046484" y="6330696"/>
                </a:lnTo>
                <a:lnTo>
                  <a:pt x="5018240" y="6456921"/>
                </a:lnTo>
                <a:lnTo>
                  <a:pt x="5115738" y="6456921"/>
                </a:lnTo>
                <a:lnTo>
                  <a:pt x="5160632" y="6285585"/>
                </a:lnTo>
                <a:lnTo>
                  <a:pt x="5271516" y="5900661"/>
                </a:lnTo>
                <a:lnTo>
                  <a:pt x="5602275" y="5268595"/>
                </a:lnTo>
                <a:close/>
              </a:path>
              <a:path w="5831205" h="6457315">
                <a:moveTo>
                  <a:pt x="5716511" y="3799014"/>
                </a:moveTo>
                <a:lnTo>
                  <a:pt x="5509082" y="3866705"/>
                </a:lnTo>
                <a:lnTo>
                  <a:pt x="5360975" y="3985374"/>
                </a:lnTo>
                <a:lnTo>
                  <a:pt x="5209972" y="4109593"/>
                </a:lnTo>
                <a:lnTo>
                  <a:pt x="5044491" y="4234091"/>
                </a:lnTo>
                <a:lnTo>
                  <a:pt x="4954232" y="4406557"/>
                </a:lnTo>
                <a:lnTo>
                  <a:pt x="4794555" y="4547336"/>
                </a:lnTo>
                <a:lnTo>
                  <a:pt x="4541024" y="5031816"/>
                </a:lnTo>
                <a:lnTo>
                  <a:pt x="4445698" y="5378348"/>
                </a:lnTo>
                <a:lnTo>
                  <a:pt x="4198404" y="6042647"/>
                </a:lnTo>
                <a:lnTo>
                  <a:pt x="4111244" y="6455727"/>
                </a:lnTo>
                <a:lnTo>
                  <a:pt x="4155211" y="6453886"/>
                </a:lnTo>
                <a:lnTo>
                  <a:pt x="4493082" y="5287784"/>
                </a:lnTo>
                <a:lnTo>
                  <a:pt x="4951234" y="4412285"/>
                </a:lnTo>
                <a:lnTo>
                  <a:pt x="5118989" y="4283456"/>
                </a:lnTo>
                <a:lnTo>
                  <a:pt x="5204485" y="4120083"/>
                </a:lnTo>
                <a:lnTo>
                  <a:pt x="5354320" y="3998099"/>
                </a:lnTo>
                <a:lnTo>
                  <a:pt x="5580050" y="3922826"/>
                </a:lnTo>
                <a:lnTo>
                  <a:pt x="5716511" y="3799014"/>
                </a:lnTo>
                <a:close/>
              </a:path>
              <a:path w="5831205" h="6457315">
                <a:moveTo>
                  <a:pt x="5824690" y="58813"/>
                </a:moveTo>
                <a:lnTo>
                  <a:pt x="5822518" y="8178"/>
                </a:lnTo>
                <a:lnTo>
                  <a:pt x="5726455" y="0"/>
                </a:lnTo>
                <a:lnTo>
                  <a:pt x="5090757" y="9588"/>
                </a:lnTo>
                <a:lnTo>
                  <a:pt x="4536008" y="28829"/>
                </a:lnTo>
                <a:lnTo>
                  <a:pt x="4134294" y="111709"/>
                </a:lnTo>
                <a:lnTo>
                  <a:pt x="3817188" y="197243"/>
                </a:lnTo>
                <a:lnTo>
                  <a:pt x="3498062" y="286651"/>
                </a:lnTo>
                <a:lnTo>
                  <a:pt x="3242729" y="418490"/>
                </a:lnTo>
                <a:lnTo>
                  <a:pt x="3002457" y="521538"/>
                </a:lnTo>
                <a:lnTo>
                  <a:pt x="2770416" y="636270"/>
                </a:lnTo>
                <a:lnTo>
                  <a:pt x="2591397" y="786638"/>
                </a:lnTo>
                <a:lnTo>
                  <a:pt x="2420175" y="949490"/>
                </a:lnTo>
                <a:lnTo>
                  <a:pt x="2063991" y="1301432"/>
                </a:lnTo>
                <a:lnTo>
                  <a:pt x="1994281" y="1434642"/>
                </a:lnTo>
                <a:lnTo>
                  <a:pt x="2351392" y="1080922"/>
                </a:lnTo>
                <a:lnTo>
                  <a:pt x="2524468" y="914527"/>
                </a:lnTo>
                <a:lnTo>
                  <a:pt x="2704477" y="762292"/>
                </a:lnTo>
                <a:lnTo>
                  <a:pt x="2869908" y="610489"/>
                </a:lnTo>
                <a:lnTo>
                  <a:pt x="3111004" y="505866"/>
                </a:lnTo>
                <a:lnTo>
                  <a:pt x="3337941" y="400900"/>
                </a:lnTo>
                <a:lnTo>
                  <a:pt x="3590963" y="273469"/>
                </a:lnTo>
                <a:lnTo>
                  <a:pt x="3989895" y="195910"/>
                </a:lnTo>
                <a:lnTo>
                  <a:pt x="4316869" y="91490"/>
                </a:lnTo>
                <a:lnTo>
                  <a:pt x="4799038" y="46621"/>
                </a:lnTo>
                <a:lnTo>
                  <a:pt x="5440756" y="25552"/>
                </a:lnTo>
                <a:lnTo>
                  <a:pt x="5824690" y="58813"/>
                </a:lnTo>
                <a:close/>
              </a:path>
              <a:path w="5831205" h="6457315">
                <a:moveTo>
                  <a:pt x="5826887" y="903744"/>
                </a:moveTo>
                <a:lnTo>
                  <a:pt x="5444490" y="894930"/>
                </a:lnTo>
                <a:lnTo>
                  <a:pt x="4961852" y="940689"/>
                </a:lnTo>
                <a:lnTo>
                  <a:pt x="4565142" y="1014018"/>
                </a:lnTo>
                <a:lnTo>
                  <a:pt x="4249572" y="1096619"/>
                </a:lnTo>
                <a:lnTo>
                  <a:pt x="4012247" y="1194041"/>
                </a:lnTo>
                <a:lnTo>
                  <a:pt x="3858349" y="1269022"/>
                </a:lnTo>
                <a:lnTo>
                  <a:pt x="4088536" y="1212621"/>
                </a:lnTo>
                <a:lnTo>
                  <a:pt x="4324362" y="1118044"/>
                </a:lnTo>
                <a:lnTo>
                  <a:pt x="4728172" y="1031163"/>
                </a:lnTo>
                <a:lnTo>
                  <a:pt x="5146675" y="943584"/>
                </a:lnTo>
                <a:lnTo>
                  <a:pt x="5694159" y="938250"/>
                </a:lnTo>
                <a:lnTo>
                  <a:pt x="5826163" y="932510"/>
                </a:lnTo>
                <a:lnTo>
                  <a:pt x="5826887" y="903744"/>
                </a:lnTo>
                <a:close/>
              </a:path>
              <a:path w="5831205" h="6457315">
                <a:moveTo>
                  <a:pt x="5827458" y="491782"/>
                </a:moveTo>
                <a:lnTo>
                  <a:pt x="5825388" y="468350"/>
                </a:lnTo>
                <a:lnTo>
                  <a:pt x="5296052" y="466394"/>
                </a:lnTo>
                <a:lnTo>
                  <a:pt x="4736071" y="495630"/>
                </a:lnTo>
                <a:lnTo>
                  <a:pt x="4328566" y="589584"/>
                </a:lnTo>
                <a:lnTo>
                  <a:pt x="3942689" y="642200"/>
                </a:lnTo>
                <a:lnTo>
                  <a:pt x="3706698" y="737082"/>
                </a:lnTo>
                <a:lnTo>
                  <a:pt x="3479177" y="843153"/>
                </a:lnTo>
                <a:lnTo>
                  <a:pt x="3237407" y="949083"/>
                </a:lnTo>
                <a:lnTo>
                  <a:pt x="3071164" y="1102436"/>
                </a:lnTo>
                <a:lnTo>
                  <a:pt x="2890177" y="1256538"/>
                </a:lnTo>
                <a:lnTo>
                  <a:pt x="2346337" y="1775345"/>
                </a:lnTo>
                <a:lnTo>
                  <a:pt x="2186190" y="2081403"/>
                </a:lnTo>
                <a:lnTo>
                  <a:pt x="2400185" y="1864194"/>
                </a:lnTo>
                <a:lnTo>
                  <a:pt x="2512187" y="1650161"/>
                </a:lnTo>
                <a:lnTo>
                  <a:pt x="2690952" y="1472907"/>
                </a:lnTo>
                <a:lnTo>
                  <a:pt x="2864002" y="1306576"/>
                </a:lnTo>
                <a:lnTo>
                  <a:pt x="3044596" y="1153198"/>
                </a:lnTo>
                <a:lnTo>
                  <a:pt x="3210458" y="1000582"/>
                </a:lnTo>
                <a:lnTo>
                  <a:pt x="3451860" y="895362"/>
                </a:lnTo>
                <a:lnTo>
                  <a:pt x="3678999" y="790003"/>
                </a:lnTo>
                <a:lnTo>
                  <a:pt x="3914622" y="695820"/>
                </a:lnTo>
                <a:lnTo>
                  <a:pt x="4317454" y="610806"/>
                </a:lnTo>
                <a:lnTo>
                  <a:pt x="4724755" y="517258"/>
                </a:lnTo>
                <a:lnTo>
                  <a:pt x="5284533" y="488429"/>
                </a:lnTo>
                <a:lnTo>
                  <a:pt x="5827458" y="491782"/>
                </a:lnTo>
                <a:close/>
              </a:path>
              <a:path w="5831205" h="6457315">
                <a:moveTo>
                  <a:pt x="5828258" y="3749814"/>
                </a:moveTo>
                <a:lnTo>
                  <a:pt x="5741187" y="3779240"/>
                </a:lnTo>
                <a:lnTo>
                  <a:pt x="5716511" y="3799014"/>
                </a:lnTo>
                <a:lnTo>
                  <a:pt x="5733351" y="3794214"/>
                </a:lnTo>
                <a:lnTo>
                  <a:pt x="5823559" y="3758806"/>
                </a:lnTo>
                <a:lnTo>
                  <a:pt x="5828258" y="3749814"/>
                </a:lnTo>
                <a:close/>
              </a:path>
              <a:path w="5831205" h="6457315">
                <a:moveTo>
                  <a:pt x="5828690" y="2269871"/>
                </a:moveTo>
                <a:lnTo>
                  <a:pt x="5823978" y="2224087"/>
                </a:lnTo>
                <a:lnTo>
                  <a:pt x="5530647" y="2264194"/>
                </a:lnTo>
                <a:lnTo>
                  <a:pt x="5229009" y="2347569"/>
                </a:lnTo>
                <a:lnTo>
                  <a:pt x="4990592" y="2447074"/>
                </a:lnTo>
                <a:lnTo>
                  <a:pt x="4750435" y="2549918"/>
                </a:lnTo>
                <a:lnTo>
                  <a:pt x="4537837" y="2627490"/>
                </a:lnTo>
                <a:lnTo>
                  <a:pt x="4379087" y="2739110"/>
                </a:lnTo>
                <a:lnTo>
                  <a:pt x="4228985" y="2861614"/>
                </a:lnTo>
                <a:lnTo>
                  <a:pt x="4076065" y="2989491"/>
                </a:lnTo>
                <a:lnTo>
                  <a:pt x="3987647" y="3158452"/>
                </a:lnTo>
                <a:lnTo>
                  <a:pt x="3795433" y="3334029"/>
                </a:lnTo>
                <a:lnTo>
                  <a:pt x="3792994" y="3338677"/>
                </a:lnTo>
                <a:lnTo>
                  <a:pt x="3984117" y="3165195"/>
                </a:lnTo>
                <a:lnTo>
                  <a:pt x="4138930" y="3033699"/>
                </a:lnTo>
                <a:lnTo>
                  <a:pt x="4290771" y="2907881"/>
                </a:lnTo>
                <a:lnTo>
                  <a:pt x="4451108" y="2793238"/>
                </a:lnTo>
                <a:lnTo>
                  <a:pt x="4597616" y="2677617"/>
                </a:lnTo>
                <a:lnTo>
                  <a:pt x="4741748" y="2566517"/>
                </a:lnTo>
                <a:lnTo>
                  <a:pt x="4980775" y="2465844"/>
                </a:lnTo>
                <a:lnTo>
                  <a:pt x="5299926" y="2376386"/>
                </a:lnTo>
                <a:lnTo>
                  <a:pt x="5611977" y="2300503"/>
                </a:lnTo>
                <a:lnTo>
                  <a:pt x="5828690" y="2269871"/>
                </a:lnTo>
                <a:close/>
              </a:path>
              <a:path w="5831205" h="6457315">
                <a:moveTo>
                  <a:pt x="5828843" y="2762618"/>
                </a:moveTo>
                <a:lnTo>
                  <a:pt x="5820613" y="2696159"/>
                </a:lnTo>
                <a:lnTo>
                  <a:pt x="5758840" y="2704655"/>
                </a:lnTo>
                <a:lnTo>
                  <a:pt x="5442902" y="2787942"/>
                </a:lnTo>
                <a:lnTo>
                  <a:pt x="5304523" y="2888030"/>
                </a:lnTo>
                <a:lnTo>
                  <a:pt x="5500421" y="2842399"/>
                </a:lnTo>
                <a:lnTo>
                  <a:pt x="5816003" y="2759748"/>
                </a:lnTo>
                <a:lnTo>
                  <a:pt x="5828843" y="2762618"/>
                </a:lnTo>
                <a:close/>
              </a:path>
              <a:path w="5831205" h="6457315">
                <a:moveTo>
                  <a:pt x="5828893" y="1776437"/>
                </a:moveTo>
                <a:lnTo>
                  <a:pt x="5787517" y="1773326"/>
                </a:lnTo>
                <a:lnTo>
                  <a:pt x="5421376" y="1842998"/>
                </a:lnTo>
                <a:lnTo>
                  <a:pt x="5824067" y="1813026"/>
                </a:lnTo>
                <a:lnTo>
                  <a:pt x="5828893" y="1776437"/>
                </a:lnTo>
                <a:close/>
              </a:path>
              <a:path w="5831205" h="6457315">
                <a:moveTo>
                  <a:pt x="5829414" y="4350194"/>
                </a:moveTo>
                <a:lnTo>
                  <a:pt x="5821578" y="4337774"/>
                </a:lnTo>
                <a:lnTo>
                  <a:pt x="5796292" y="4358716"/>
                </a:lnTo>
                <a:lnTo>
                  <a:pt x="5577471" y="4448175"/>
                </a:lnTo>
                <a:lnTo>
                  <a:pt x="5490375" y="4614621"/>
                </a:lnTo>
                <a:lnTo>
                  <a:pt x="5320804" y="4746930"/>
                </a:lnTo>
                <a:lnTo>
                  <a:pt x="5317515" y="4753203"/>
                </a:lnTo>
                <a:lnTo>
                  <a:pt x="5485790" y="4623384"/>
                </a:lnTo>
                <a:lnTo>
                  <a:pt x="5639155" y="4494657"/>
                </a:lnTo>
                <a:lnTo>
                  <a:pt x="5789257" y="4372178"/>
                </a:lnTo>
                <a:lnTo>
                  <a:pt x="5829414" y="4350194"/>
                </a:lnTo>
                <a:close/>
              </a:path>
              <a:path w="5831205" h="6457315">
                <a:moveTo>
                  <a:pt x="5830417" y="3225254"/>
                </a:moveTo>
                <a:lnTo>
                  <a:pt x="5828906" y="3200755"/>
                </a:lnTo>
                <a:lnTo>
                  <a:pt x="5668442" y="3233458"/>
                </a:lnTo>
                <a:lnTo>
                  <a:pt x="5510581" y="3343402"/>
                </a:lnTo>
                <a:lnTo>
                  <a:pt x="5300015" y="3417100"/>
                </a:lnTo>
                <a:lnTo>
                  <a:pt x="5143360" y="3524707"/>
                </a:lnTo>
                <a:lnTo>
                  <a:pt x="5091493" y="3569043"/>
                </a:lnTo>
                <a:lnTo>
                  <a:pt x="5248529" y="3515474"/>
                </a:lnTo>
                <a:lnTo>
                  <a:pt x="5395087" y="3399764"/>
                </a:lnTo>
                <a:lnTo>
                  <a:pt x="5627611" y="3311487"/>
                </a:lnTo>
                <a:lnTo>
                  <a:pt x="5830417" y="3225254"/>
                </a:lnTo>
                <a:close/>
              </a:path>
              <a:path w="5831205" h="6457315">
                <a:moveTo>
                  <a:pt x="5830748" y="1362011"/>
                </a:moveTo>
                <a:lnTo>
                  <a:pt x="5827954" y="1339977"/>
                </a:lnTo>
                <a:lnTo>
                  <a:pt x="5189029" y="1383106"/>
                </a:lnTo>
                <a:lnTo>
                  <a:pt x="4778591" y="1455254"/>
                </a:lnTo>
                <a:lnTo>
                  <a:pt x="4557725" y="1548625"/>
                </a:lnTo>
                <a:lnTo>
                  <a:pt x="4254436" y="1607756"/>
                </a:lnTo>
                <a:lnTo>
                  <a:pt x="4083266" y="1743113"/>
                </a:lnTo>
                <a:lnTo>
                  <a:pt x="3852634" y="1855139"/>
                </a:lnTo>
                <a:lnTo>
                  <a:pt x="3607270" y="1967953"/>
                </a:lnTo>
                <a:lnTo>
                  <a:pt x="3436886" y="2129180"/>
                </a:lnTo>
                <a:lnTo>
                  <a:pt x="3262465" y="2298166"/>
                </a:lnTo>
                <a:lnTo>
                  <a:pt x="3168446" y="2477820"/>
                </a:lnTo>
                <a:lnTo>
                  <a:pt x="3348393" y="2298293"/>
                </a:lnTo>
                <a:lnTo>
                  <a:pt x="3524135" y="2126805"/>
                </a:lnTo>
                <a:lnTo>
                  <a:pt x="3695687" y="1963331"/>
                </a:lnTo>
                <a:lnTo>
                  <a:pt x="3942118" y="1848485"/>
                </a:lnTo>
                <a:lnTo>
                  <a:pt x="4184993" y="1740458"/>
                </a:lnTo>
                <a:lnTo>
                  <a:pt x="4413351" y="1632762"/>
                </a:lnTo>
                <a:lnTo>
                  <a:pt x="4740313" y="1528394"/>
                </a:lnTo>
                <a:lnTo>
                  <a:pt x="5072735" y="1413598"/>
                </a:lnTo>
                <a:lnTo>
                  <a:pt x="5546306" y="1385138"/>
                </a:lnTo>
                <a:lnTo>
                  <a:pt x="5830748" y="1362011"/>
                </a:lnTo>
                <a:close/>
              </a:path>
              <a:path w="5831205" h="6457315">
                <a:moveTo>
                  <a:pt x="5830887" y="5862358"/>
                </a:moveTo>
                <a:lnTo>
                  <a:pt x="5805500" y="5908395"/>
                </a:lnTo>
                <a:lnTo>
                  <a:pt x="5784799" y="5947537"/>
                </a:lnTo>
                <a:lnTo>
                  <a:pt x="5764657" y="5987046"/>
                </a:lnTo>
                <a:lnTo>
                  <a:pt x="5745023" y="6026912"/>
                </a:lnTo>
                <a:lnTo>
                  <a:pt x="5725909" y="6067120"/>
                </a:lnTo>
                <a:lnTo>
                  <a:pt x="5707291" y="6107658"/>
                </a:lnTo>
                <a:lnTo>
                  <a:pt x="5689155" y="6148514"/>
                </a:lnTo>
                <a:lnTo>
                  <a:pt x="5671477" y="6189675"/>
                </a:lnTo>
                <a:lnTo>
                  <a:pt x="5654256" y="6231128"/>
                </a:lnTo>
                <a:lnTo>
                  <a:pt x="5637454" y="6272873"/>
                </a:lnTo>
                <a:lnTo>
                  <a:pt x="5621083" y="6314872"/>
                </a:lnTo>
                <a:lnTo>
                  <a:pt x="5605107" y="6357137"/>
                </a:lnTo>
                <a:lnTo>
                  <a:pt x="5574296" y="6442392"/>
                </a:lnTo>
                <a:lnTo>
                  <a:pt x="5569280" y="6456921"/>
                </a:lnTo>
                <a:lnTo>
                  <a:pt x="5603418" y="6456921"/>
                </a:lnTo>
                <a:lnTo>
                  <a:pt x="5634088" y="6371971"/>
                </a:lnTo>
                <a:lnTo>
                  <a:pt x="5649950" y="6329997"/>
                </a:lnTo>
                <a:lnTo>
                  <a:pt x="5666206" y="6288290"/>
                </a:lnTo>
                <a:lnTo>
                  <a:pt x="5682881" y="6246838"/>
                </a:lnTo>
                <a:lnTo>
                  <a:pt x="5699976" y="6205677"/>
                </a:lnTo>
                <a:lnTo>
                  <a:pt x="5717514" y="6164808"/>
                </a:lnTo>
                <a:lnTo>
                  <a:pt x="5735523" y="6124245"/>
                </a:lnTo>
                <a:lnTo>
                  <a:pt x="5754001" y="6083998"/>
                </a:lnTo>
                <a:lnTo>
                  <a:pt x="5772963" y="6044082"/>
                </a:lnTo>
                <a:lnTo>
                  <a:pt x="5792444" y="6004496"/>
                </a:lnTo>
                <a:lnTo>
                  <a:pt x="5812447" y="5965279"/>
                </a:lnTo>
                <a:lnTo>
                  <a:pt x="5830887" y="5930392"/>
                </a:lnTo>
                <a:lnTo>
                  <a:pt x="5830887" y="5930036"/>
                </a:lnTo>
                <a:lnTo>
                  <a:pt x="5830887" y="5862358"/>
                </a:lnTo>
                <a:close/>
              </a:path>
              <a:path w="5831205" h="6457315">
                <a:moveTo>
                  <a:pt x="5830887" y="4973066"/>
                </a:moveTo>
                <a:lnTo>
                  <a:pt x="5698096" y="5085486"/>
                </a:lnTo>
                <a:lnTo>
                  <a:pt x="5629465" y="5216639"/>
                </a:lnTo>
                <a:lnTo>
                  <a:pt x="5830887" y="5039639"/>
                </a:lnTo>
                <a:lnTo>
                  <a:pt x="5830887" y="4973066"/>
                </a:lnTo>
                <a:close/>
              </a:path>
            </a:pathLst>
          </a:custGeom>
          <a:solidFill>
            <a:srgbClr val="AE7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609667" y="36395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9667" y="48387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9667" y="757961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9667" y="64680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73926" y="42779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7" y="296971"/>
                </a:lnTo>
                <a:lnTo>
                  <a:pt x="62380" y="275341"/>
                </a:lnTo>
                <a:lnTo>
                  <a:pt x="29397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7" y="62380"/>
                </a:lnTo>
                <a:lnTo>
                  <a:pt x="62380" y="29397"/>
                </a:lnTo>
                <a:lnTo>
                  <a:pt x="104207" y="7767"/>
                </a:lnTo>
                <a:lnTo>
                  <a:pt x="152369" y="0"/>
                </a:lnTo>
                <a:lnTo>
                  <a:pt x="200531" y="7767"/>
                </a:lnTo>
                <a:lnTo>
                  <a:pt x="242358" y="29397"/>
                </a:lnTo>
                <a:lnTo>
                  <a:pt x="275341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1" y="242358"/>
                </a:lnTo>
                <a:lnTo>
                  <a:pt x="242358" y="275341"/>
                </a:lnTo>
                <a:lnTo>
                  <a:pt x="200531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079528" y="427798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7" y="296971"/>
                </a:lnTo>
                <a:lnTo>
                  <a:pt x="62380" y="275341"/>
                </a:lnTo>
                <a:lnTo>
                  <a:pt x="29397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7" y="62380"/>
                </a:lnTo>
                <a:lnTo>
                  <a:pt x="62380" y="29397"/>
                </a:lnTo>
                <a:lnTo>
                  <a:pt x="104207" y="7767"/>
                </a:lnTo>
                <a:lnTo>
                  <a:pt x="152369" y="0"/>
                </a:lnTo>
                <a:lnTo>
                  <a:pt x="200531" y="7767"/>
                </a:lnTo>
                <a:lnTo>
                  <a:pt x="242358" y="29397"/>
                </a:lnTo>
                <a:lnTo>
                  <a:pt x="275341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1" y="242358"/>
                </a:lnTo>
                <a:lnTo>
                  <a:pt x="242358" y="275341"/>
                </a:lnTo>
                <a:lnTo>
                  <a:pt x="200531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AE70B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079528" y="694605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7" y="296971"/>
                </a:lnTo>
                <a:lnTo>
                  <a:pt x="62380" y="275341"/>
                </a:lnTo>
                <a:lnTo>
                  <a:pt x="29397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7" y="62380"/>
                </a:lnTo>
                <a:lnTo>
                  <a:pt x="62380" y="29397"/>
                </a:lnTo>
                <a:lnTo>
                  <a:pt x="104207" y="7767"/>
                </a:lnTo>
                <a:lnTo>
                  <a:pt x="152369" y="0"/>
                </a:lnTo>
                <a:lnTo>
                  <a:pt x="200531" y="7767"/>
                </a:lnTo>
                <a:lnTo>
                  <a:pt x="242358" y="29397"/>
                </a:lnTo>
                <a:lnTo>
                  <a:pt x="275341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1" y="242358"/>
                </a:lnTo>
                <a:lnTo>
                  <a:pt x="242358" y="275341"/>
                </a:lnTo>
                <a:lnTo>
                  <a:pt x="200531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F1B4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5" y="6777789"/>
            <a:ext cx="6878160" cy="3508953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1458" y="2711001"/>
            <a:ext cx="578040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545" dirty="0"/>
              <a:t>Preprocessing</a:t>
            </a:r>
            <a:r>
              <a:rPr sz="5000" spc="290" dirty="0"/>
              <a:t> </a:t>
            </a:r>
            <a:r>
              <a:rPr sz="5000" spc="490" dirty="0"/>
              <a:t>G</a:t>
            </a:r>
            <a:endParaRPr sz="5000"/>
          </a:p>
        </p:txBody>
      </p:sp>
      <p:sp>
        <p:nvSpPr>
          <p:cNvPr id="8" name="object 8"/>
          <p:cNvSpPr txBox="1"/>
          <p:nvPr/>
        </p:nvSpPr>
        <p:spPr>
          <a:xfrm>
            <a:off x="761458" y="3452614"/>
            <a:ext cx="3274695" cy="152971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5840"/>
              </a:lnSpc>
              <a:spcBef>
                <a:spcPts val="365"/>
              </a:spcBef>
            </a:pPr>
            <a:r>
              <a:rPr sz="5000" spc="535" dirty="0">
                <a:solidFill>
                  <a:srgbClr val="FFFFFF"/>
                </a:solidFill>
                <a:latin typeface="Arial"/>
                <a:cs typeface="Arial"/>
              </a:rPr>
              <a:t>Chunking </a:t>
            </a:r>
            <a:r>
              <a:rPr sz="5000" spc="570" dirty="0">
                <a:solidFill>
                  <a:srgbClr val="FFFFFF"/>
                </a:solidFill>
                <a:latin typeface="Arial"/>
                <a:cs typeface="Arial"/>
              </a:rPr>
              <a:t>Strategy</a:t>
            </a:r>
            <a:endParaRPr sz="5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58172" y="3910384"/>
            <a:ext cx="4389120" cy="14255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3200"/>
              </a:lnSpc>
              <a:spcBef>
                <a:spcPts val="95"/>
              </a:spcBef>
            </a:pPr>
            <a:r>
              <a:rPr sz="2300" b="1" spc="155" dirty="0">
                <a:solidFill>
                  <a:srgbClr val="FFFFFF"/>
                </a:solidFill>
                <a:latin typeface="Arial Narrow"/>
                <a:cs typeface="Arial Narrow"/>
              </a:rPr>
              <a:t>Whitespace</a:t>
            </a:r>
            <a:r>
              <a:rPr sz="2300" b="1" spc="26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300" b="1" spc="125" dirty="0">
                <a:solidFill>
                  <a:srgbClr val="FFFFFF"/>
                </a:solidFill>
                <a:latin typeface="Arial Narrow"/>
                <a:cs typeface="Arial Narrow"/>
              </a:rPr>
              <a:t>Normalization</a:t>
            </a:r>
            <a:r>
              <a:rPr sz="230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300" spc="5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Clean</a:t>
            </a:r>
            <a:r>
              <a:rPr sz="23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0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PDF</a:t>
            </a:r>
            <a:r>
              <a:rPr sz="23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0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artifacts</a:t>
            </a:r>
            <a:r>
              <a:rPr sz="2300" spc="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300" spc="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0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irregular </a:t>
            </a:r>
            <a:r>
              <a:rPr sz="23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spacing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676368" y="3882933"/>
            <a:ext cx="4100829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sz="2350" b="1" spc="110" dirty="0">
                <a:solidFill>
                  <a:srgbClr val="FFFFFF"/>
                </a:solidFill>
                <a:latin typeface="Arial Narrow"/>
                <a:cs typeface="Arial Narrow"/>
              </a:rPr>
              <a:t>Heading-</a:t>
            </a:r>
            <a:r>
              <a:rPr sz="2350" b="1" spc="229" dirty="0">
                <a:solidFill>
                  <a:srgbClr val="FFFFFF"/>
                </a:solidFill>
                <a:latin typeface="Arial Narrow"/>
                <a:cs typeface="Arial Narrow"/>
              </a:rPr>
              <a:t>Aware</a:t>
            </a:r>
            <a:r>
              <a:rPr sz="23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350" b="1" spc="60" dirty="0">
                <a:solidFill>
                  <a:srgbClr val="FFFFFF"/>
                </a:solidFill>
                <a:latin typeface="Arial Narrow"/>
                <a:cs typeface="Arial Narrow"/>
              </a:rPr>
              <a:t>Chunking</a:t>
            </a:r>
            <a:r>
              <a:rPr sz="23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: 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Preserve</a:t>
            </a:r>
            <a:r>
              <a:rPr sz="23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context</a:t>
            </a:r>
            <a:r>
              <a:rPr sz="23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23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attaching 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section</a:t>
            </a:r>
            <a:r>
              <a:rPr sz="23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titles</a:t>
            </a:r>
            <a:r>
              <a:rPr sz="23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3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chunks</a:t>
            </a:r>
            <a:endParaRPr sz="23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58172" y="6550635"/>
            <a:ext cx="3762375" cy="1397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100"/>
              </a:spcBef>
            </a:pPr>
            <a:r>
              <a:rPr sz="2250" b="1" spc="130" dirty="0">
                <a:solidFill>
                  <a:srgbClr val="FFFFFF"/>
                </a:solidFill>
                <a:latin typeface="Arial Narrow"/>
                <a:cs typeface="Arial Narrow"/>
              </a:rPr>
              <a:t>Lowercasing</a:t>
            </a:r>
            <a:r>
              <a:rPr sz="2250" b="1" spc="2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70" dirty="0">
                <a:solidFill>
                  <a:srgbClr val="FFFFFF"/>
                </a:solidFill>
                <a:latin typeface="Arial Narrow"/>
                <a:cs typeface="Arial Narrow"/>
              </a:rPr>
              <a:t>&amp;</a:t>
            </a:r>
            <a:r>
              <a:rPr sz="2250" b="1" spc="2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80" dirty="0">
                <a:solidFill>
                  <a:srgbClr val="FFFFFF"/>
                </a:solidFill>
                <a:latin typeface="Arial Narrow"/>
                <a:cs typeface="Arial Narrow"/>
              </a:rPr>
              <a:t>Sanitization</a:t>
            </a:r>
            <a:r>
              <a:rPr sz="22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: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Handle</a:t>
            </a:r>
            <a:r>
              <a:rPr sz="225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encoding</a:t>
            </a:r>
            <a:r>
              <a:rPr sz="2250" spc="-8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issues</a:t>
            </a:r>
            <a:r>
              <a:rPr sz="2250" spc="-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 </a:t>
            </a:r>
            <a:r>
              <a:rPr sz="225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PDFs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15809" y="6550511"/>
            <a:ext cx="4436110" cy="145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000"/>
              </a:lnSpc>
              <a:spcBef>
                <a:spcPts val="100"/>
              </a:spcBef>
            </a:pPr>
            <a:r>
              <a:rPr sz="2350" b="1" spc="145" dirty="0">
                <a:solidFill>
                  <a:srgbClr val="FFFFFF"/>
                </a:solidFill>
                <a:latin typeface="Arial Narrow"/>
                <a:cs typeface="Arial Narrow"/>
              </a:rPr>
              <a:t>Symbolic</a:t>
            </a:r>
            <a:r>
              <a:rPr sz="2350" b="1" spc="24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350" b="1" spc="160" dirty="0">
                <a:solidFill>
                  <a:srgbClr val="FFFFFF"/>
                </a:solidFill>
                <a:latin typeface="Arial Narrow"/>
                <a:cs typeface="Arial Narrow"/>
              </a:rPr>
              <a:t>Knowledge</a:t>
            </a:r>
            <a:r>
              <a:rPr sz="23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350" b="1" spc="70" dirty="0">
                <a:solidFill>
                  <a:srgbClr val="FFFFFF"/>
                </a:solidFill>
                <a:latin typeface="Arial Narrow"/>
                <a:cs typeface="Arial Narrow"/>
              </a:rPr>
              <a:t>Injection: </a:t>
            </a:r>
            <a:r>
              <a:rPr sz="235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Hard-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code</a:t>
            </a:r>
            <a:r>
              <a:rPr sz="23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3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standards</a:t>
            </a:r>
            <a:r>
              <a:rPr sz="23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(ISO 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7010)</a:t>
            </a:r>
            <a:r>
              <a:rPr sz="23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3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dirty="0">
                <a:solidFill>
                  <a:srgbClr val="FFFFFF"/>
                </a:solidFill>
                <a:latin typeface="Microsoft Sans Serif"/>
                <a:cs typeface="Microsoft Sans Serif"/>
              </a:rPr>
              <a:t>prevent</a:t>
            </a:r>
            <a:r>
              <a:rPr sz="23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3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hallucination</a:t>
            </a:r>
            <a:endParaRPr sz="23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91" y="6500555"/>
            <a:ext cx="7290165" cy="243151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1491" y="3227528"/>
            <a:ext cx="7290181" cy="24315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5491" y="3227528"/>
            <a:ext cx="7290165" cy="243151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545" rIns="0" bIns="0" rtlCol="0">
            <a:spAutoFit/>
          </a:bodyPr>
          <a:lstStyle/>
          <a:p>
            <a:pPr marL="3227705">
              <a:lnSpc>
                <a:spcPct val="100000"/>
              </a:lnSpc>
              <a:spcBef>
                <a:spcPts val="130"/>
              </a:spcBef>
            </a:pPr>
            <a:r>
              <a:rPr spc="300" dirty="0"/>
              <a:t>RAG</a:t>
            </a:r>
            <a:r>
              <a:rPr spc="240" dirty="0"/>
              <a:t> </a:t>
            </a:r>
            <a:r>
              <a:rPr spc="395" dirty="0"/>
              <a:t>Pipeline:</a:t>
            </a:r>
            <a:r>
              <a:rPr spc="240" dirty="0"/>
              <a:t> </a:t>
            </a:r>
            <a:r>
              <a:rPr spc="445" dirty="0"/>
              <a:t>03</a:t>
            </a:r>
            <a:r>
              <a:rPr spc="240" dirty="0"/>
              <a:t> </a:t>
            </a:r>
            <a:r>
              <a:rPr spc="450" dirty="0"/>
              <a:t>Stage</a:t>
            </a:r>
            <a:r>
              <a:rPr spc="240" dirty="0"/>
              <a:t> </a:t>
            </a:r>
            <a:r>
              <a:rPr spc="400" dirty="0"/>
              <a:t>Design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898749" y="3691290"/>
            <a:ext cx="3732529" cy="1387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110"/>
              </a:spcBef>
            </a:pP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1800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35" dirty="0">
                <a:solidFill>
                  <a:srgbClr val="FFFFFF"/>
                </a:solidFill>
                <a:latin typeface="Arial"/>
                <a:cs typeface="Arial"/>
              </a:rPr>
              <a:t>Embedding</a:t>
            </a:r>
            <a:r>
              <a:rPr sz="1800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</a:pPr>
            <a:r>
              <a:rPr sz="1750" b="1" spc="114" dirty="0">
                <a:solidFill>
                  <a:srgbClr val="FFFFFF"/>
                </a:solidFill>
                <a:latin typeface="Arial Narrow"/>
                <a:cs typeface="Arial Narrow"/>
              </a:rPr>
              <a:t>nomic-</a:t>
            </a:r>
            <a:r>
              <a:rPr sz="1750" b="1" spc="150" dirty="0">
                <a:solidFill>
                  <a:srgbClr val="FFFFFF"/>
                </a:solidFill>
                <a:latin typeface="Arial Narrow"/>
                <a:cs typeface="Arial Narrow"/>
              </a:rPr>
              <a:t>embed-</a:t>
            </a:r>
            <a:r>
              <a:rPr sz="1750" b="1" spc="185" dirty="0">
                <a:solidFill>
                  <a:srgbClr val="FFFFFF"/>
                </a:solidFill>
                <a:latin typeface="Arial Narrow"/>
                <a:cs typeface="Arial Narrow"/>
              </a:rPr>
              <a:t>text</a:t>
            </a:r>
            <a:r>
              <a:rPr sz="17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35" dirty="0">
                <a:solidFill>
                  <a:srgbClr val="FFFFFF"/>
                </a:solidFill>
                <a:latin typeface="Arial Narrow"/>
                <a:cs typeface="Arial Narrow"/>
              </a:rPr>
              <a:t>converts</a:t>
            </a:r>
            <a:r>
              <a:rPr sz="17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00" dirty="0">
                <a:solidFill>
                  <a:srgbClr val="FFFFFF"/>
                </a:solidFill>
                <a:latin typeface="Arial Narrow"/>
                <a:cs typeface="Arial Narrow"/>
              </a:rPr>
              <a:t>docs</a:t>
            </a:r>
            <a:r>
              <a:rPr sz="17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35" dirty="0">
                <a:solidFill>
                  <a:srgbClr val="FFFFFF"/>
                </a:solidFill>
                <a:latin typeface="Arial Narrow"/>
                <a:cs typeface="Arial Narrow"/>
              </a:rPr>
              <a:t>to </a:t>
            </a:r>
            <a:r>
              <a:rPr sz="1750" b="1" spc="130" dirty="0">
                <a:solidFill>
                  <a:srgbClr val="FFFFFF"/>
                </a:solidFill>
                <a:latin typeface="Arial Narrow"/>
                <a:cs typeface="Arial Narrow"/>
              </a:rPr>
              <a:t>vectors</a:t>
            </a:r>
            <a:endParaRPr sz="1750">
              <a:latin typeface="Arial Narrow"/>
              <a:cs typeface="Arial Narro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084104" y="3691290"/>
            <a:ext cx="3332479" cy="1387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93395">
              <a:lnSpc>
                <a:spcPct val="100000"/>
              </a:lnSpc>
              <a:spcBef>
                <a:spcPts val="110"/>
              </a:spcBef>
            </a:pP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1800" spc="-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29" dirty="0">
                <a:solidFill>
                  <a:srgbClr val="FFFFFF"/>
                </a:solidFill>
                <a:latin typeface="Arial"/>
                <a:cs typeface="Arial"/>
              </a:rPr>
              <a:t>Hybrid</a:t>
            </a:r>
            <a:r>
              <a:rPr sz="180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20" dirty="0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7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</a:pPr>
            <a:r>
              <a:rPr sz="1750" b="1" spc="100" dirty="0">
                <a:solidFill>
                  <a:srgbClr val="FFFFFF"/>
                </a:solidFill>
                <a:latin typeface="Arial Narrow"/>
                <a:cs typeface="Arial Narrow"/>
              </a:rPr>
              <a:t>FAISS</a:t>
            </a:r>
            <a:r>
              <a:rPr sz="17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35" dirty="0">
                <a:solidFill>
                  <a:srgbClr val="FFFFFF"/>
                </a:solidFill>
                <a:latin typeface="Arial Narrow"/>
                <a:cs typeface="Arial Narrow"/>
              </a:rPr>
              <a:t>(semantic)</a:t>
            </a:r>
            <a:r>
              <a:rPr sz="17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dirty="0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sz="17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95" dirty="0">
                <a:solidFill>
                  <a:srgbClr val="FFFFFF"/>
                </a:solidFill>
                <a:latin typeface="Arial Narrow"/>
                <a:cs typeface="Arial Narrow"/>
              </a:rPr>
              <a:t>SQLite</a:t>
            </a:r>
            <a:r>
              <a:rPr sz="17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40" dirty="0">
                <a:solidFill>
                  <a:srgbClr val="FFFFFF"/>
                </a:solidFill>
                <a:latin typeface="Arial Narrow"/>
                <a:cs typeface="Arial Narrow"/>
              </a:rPr>
              <a:t>FTS5 </a:t>
            </a:r>
            <a:r>
              <a:rPr sz="1750" b="1" spc="175" dirty="0">
                <a:solidFill>
                  <a:srgbClr val="FFFFFF"/>
                </a:solidFill>
                <a:latin typeface="Arial Narrow"/>
                <a:cs typeface="Arial Narrow"/>
              </a:rPr>
              <a:t>(keyword)</a:t>
            </a:r>
            <a:endParaRPr sz="175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98749" y="6956704"/>
            <a:ext cx="3842385" cy="1391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05"/>
              </a:spcBef>
            </a:pPr>
            <a:r>
              <a:rPr sz="1800" spc="170" dirty="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sz="1800" spc="-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25" dirty="0">
                <a:solidFill>
                  <a:srgbClr val="FFFFFF"/>
                </a:solidFill>
                <a:latin typeface="Arial"/>
                <a:cs typeface="Arial"/>
              </a:rPr>
              <a:t>LLM</a:t>
            </a:r>
            <a:r>
              <a:rPr sz="1800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35" dirty="0">
                <a:solidFill>
                  <a:srgbClr val="FFFFFF"/>
                </a:solidFill>
                <a:latin typeface="Arial"/>
                <a:cs typeface="Arial"/>
              </a:rPr>
              <a:t>Inference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>
              <a:latin typeface="Arial"/>
              <a:cs typeface="Arial"/>
            </a:endParaRPr>
          </a:p>
          <a:p>
            <a:pPr marL="12700" marR="5080">
              <a:lnSpc>
                <a:spcPct val="135700"/>
              </a:lnSpc>
            </a:pPr>
            <a:r>
              <a:rPr sz="1750" b="1" spc="145" dirty="0">
                <a:solidFill>
                  <a:srgbClr val="FFFFFF"/>
                </a:solidFill>
                <a:latin typeface="Arial Narrow"/>
                <a:cs typeface="Arial Narrow"/>
              </a:rPr>
              <a:t>Llama</a:t>
            </a:r>
            <a:r>
              <a:rPr sz="1750" b="1" spc="19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240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r>
              <a:rPr sz="17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80" dirty="0">
                <a:solidFill>
                  <a:srgbClr val="FFFFFF"/>
                </a:solidFill>
                <a:latin typeface="Arial Narrow"/>
                <a:cs typeface="Arial Narrow"/>
              </a:rPr>
              <a:t>(8B)</a:t>
            </a:r>
            <a:r>
              <a:rPr sz="17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25" dirty="0">
                <a:solidFill>
                  <a:srgbClr val="FFFFFF"/>
                </a:solidFill>
                <a:latin typeface="Arial Narrow"/>
                <a:cs typeface="Arial Narrow"/>
              </a:rPr>
              <a:t>reads</a:t>
            </a:r>
            <a:r>
              <a:rPr sz="17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35" dirty="0">
                <a:solidFill>
                  <a:srgbClr val="FFFFFF"/>
                </a:solidFill>
                <a:latin typeface="Arial Narrow"/>
                <a:cs typeface="Arial Narrow"/>
              </a:rPr>
              <a:t>retrieved</a:t>
            </a:r>
            <a:r>
              <a:rPr sz="1750" b="1" spc="19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00" dirty="0">
                <a:solidFill>
                  <a:srgbClr val="FFFFFF"/>
                </a:solidFill>
                <a:latin typeface="Arial Narrow"/>
                <a:cs typeface="Arial Narrow"/>
              </a:rPr>
              <a:t>chunks </a:t>
            </a:r>
            <a:r>
              <a:rPr sz="1750" b="1" spc="105" dirty="0">
                <a:solidFill>
                  <a:srgbClr val="FFFFFF"/>
                </a:solidFill>
                <a:latin typeface="Arial Narrow"/>
                <a:cs typeface="Arial Narrow"/>
              </a:rPr>
              <a:t>and</a:t>
            </a:r>
            <a:r>
              <a:rPr sz="1750" b="1" spc="19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750" b="1" spc="140" dirty="0">
                <a:solidFill>
                  <a:srgbClr val="FFFFFF"/>
                </a:solidFill>
                <a:latin typeface="Arial Narrow"/>
                <a:cs typeface="Arial Narrow"/>
              </a:rPr>
              <a:t>answers</a:t>
            </a:r>
            <a:endParaRPr sz="17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" y="7395832"/>
            <a:ext cx="5483509" cy="28911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7236" y="954471"/>
            <a:ext cx="1287653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545" dirty="0"/>
              <a:t>Embedding</a:t>
            </a:r>
            <a:r>
              <a:rPr sz="5000" spc="305" dirty="0"/>
              <a:t> </a:t>
            </a:r>
            <a:r>
              <a:rPr sz="5000" spc="500" dirty="0"/>
              <a:t>Model:</a:t>
            </a:r>
            <a:r>
              <a:rPr sz="5000" spc="310" dirty="0"/>
              <a:t> </a:t>
            </a:r>
            <a:r>
              <a:rPr sz="5000" spc="545" dirty="0"/>
              <a:t>nomic-</a:t>
            </a:r>
            <a:r>
              <a:rPr sz="5000" spc="500" dirty="0"/>
              <a:t>embed-</a:t>
            </a:r>
            <a:r>
              <a:rPr sz="5000" spc="735" dirty="0"/>
              <a:t>text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625469" y="2824495"/>
            <a:ext cx="10421620" cy="311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Converts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documents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into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768-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dimensional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dense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vectors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Enables</a:t>
            </a:r>
            <a:r>
              <a:rPr sz="2250" spc="1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semantic</a:t>
            </a:r>
            <a:r>
              <a:rPr sz="22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search:</a:t>
            </a:r>
            <a:r>
              <a:rPr sz="225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"protecting</a:t>
            </a:r>
            <a:r>
              <a:rPr sz="225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ears"</a:t>
            </a:r>
            <a:r>
              <a:rPr sz="22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finds</a:t>
            </a:r>
            <a:r>
              <a:rPr sz="225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"DPI</a:t>
            </a:r>
            <a:r>
              <a:rPr sz="2250" spc="18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udito"</a:t>
            </a:r>
            <a:r>
              <a:rPr sz="22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section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266700"/>
              </a:lnSpc>
            </a:pP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Why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nomic-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embed-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text?</a:t>
            </a:r>
            <a:r>
              <a:rPr sz="22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Open-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source,</a:t>
            </a:r>
            <a:r>
              <a:rPr sz="22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locally</a:t>
            </a:r>
            <a:r>
              <a:rPr sz="22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deployable,</a:t>
            </a:r>
            <a:r>
              <a:rPr sz="22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high</a:t>
            </a:r>
            <a:r>
              <a:rPr sz="22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semantic</a:t>
            </a:r>
            <a:r>
              <a:rPr sz="2250" spc="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quality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Normalized</a:t>
            </a:r>
            <a:r>
              <a:rPr sz="22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vectors</a:t>
            </a:r>
            <a:r>
              <a:rPr sz="22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2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L2</a:t>
            </a:r>
            <a:r>
              <a:rPr sz="22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regularization</a:t>
            </a:r>
            <a:r>
              <a:rPr sz="22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250" spc="2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consistent</a:t>
            </a:r>
            <a:r>
              <a:rPr sz="2250" spc="20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similarity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0560" y="28880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42"/>
                </a:moveTo>
                <a:lnTo>
                  <a:pt x="104208" y="296974"/>
                </a:lnTo>
                <a:lnTo>
                  <a:pt x="62381" y="275344"/>
                </a:lnTo>
                <a:lnTo>
                  <a:pt x="29398" y="242361"/>
                </a:lnTo>
                <a:lnTo>
                  <a:pt x="7767" y="200534"/>
                </a:lnTo>
                <a:lnTo>
                  <a:pt x="0" y="152372"/>
                </a:lnTo>
                <a:lnTo>
                  <a:pt x="7767" y="104211"/>
                </a:lnTo>
                <a:lnTo>
                  <a:pt x="29398" y="62383"/>
                </a:lnTo>
                <a:lnTo>
                  <a:pt x="62381" y="29399"/>
                </a:lnTo>
                <a:lnTo>
                  <a:pt x="104208" y="7768"/>
                </a:lnTo>
                <a:lnTo>
                  <a:pt x="152369" y="0"/>
                </a:lnTo>
                <a:lnTo>
                  <a:pt x="200530" y="7768"/>
                </a:lnTo>
                <a:lnTo>
                  <a:pt x="242357" y="29399"/>
                </a:lnTo>
                <a:lnTo>
                  <a:pt x="275340" y="62383"/>
                </a:lnTo>
                <a:lnTo>
                  <a:pt x="296971" y="104211"/>
                </a:lnTo>
                <a:lnTo>
                  <a:pt x="304739" y="152372"/>
                </a:lnTo>
                <a:lnTo>
                  <a:pt x="296971" y="200534"/>
                </a:lnTo>
                <a:lnTo>
                  <a:pt x="275340" y="242361"/>
                </a:lnTo>
                <a:lnTo>
                  <a:pt x="242357" y="275344"/>
                </a:lnTo>
                <a:lnTo>
                  <a:pt x="200530" y="296974"/>
                </a:lnTo>
                <a:lnTo>
                  <a:pt x="152369" y="304742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0560" y="37568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0560" y="57054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69"/>
                </a:moveTo>
                <a:lnTo>
                  <a:pt x="104208" y="296999"/>
                </a:lnTo>
                <a:lnTo>
                  <a:pt x="62381" y="275363"/>
                </a:lnTo>
                <a:lnTo>
                  <a:pt x="29398" y="242375"/>
                </a:lnTo>
                <a:lnTo>
                  <a:pt x="7767" y="200550"/>
                </a:lnTo>
                <a:lnTo>
                  <a:pt x="0" y="152400"/>
                </a:lnTo>
                <a:lnTo>
                  <a:pt x="7767" y="104234"/>
                </a:lnTo>
                <a:lnTo>
                  <a:pt x="29398" y="62400"/>
                </a:lnTo>
                <a:lnTo>
                  <a:pt x="62381" y="29408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8"/>
                </a:lnTo>
                <a:lnTo>
                  <a:pt x="275340" y="62400"/>
                </a:lnTo>
                <a:lnTo>
                  <a:pt x="296971" y="104234"/>
                </a:lnTo>
                <a:lnTo>
                  <a:pt x="304739" y="152400"/>
                </a:lnTo>
                <a:lnTo>
                  <a:pt x="296971" y="200550"/>
                </a:lnTo>
                <a:lnTo>
                  <a:pt x="275340" y="242375"/>
                </a:lnTo>
                <a:lnTo>
                  <a:pt x="242357" y="275363"/>
                </a:lnTo>
                <a:lnTo>
                  <a:pt x="200530" y="296999"/>
                </a:lnTo>
                <a:lnTo>
                  <a:pt x="152369" y="30476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0560" y="46744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19"/>
                </a:lnTo>
                <a:lnTo>
                  <a:pt x="29398" y="62393"/>
                </a:lnTo>
                <a:lnTo>
                  <a:pt x="62381" y="29406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6"/>
                </a:lnTo>
                <a:lnTo>
                  <a:pt x="275340" y="62393"/>
                </a:lnTo>
                <a:lnTo>
                  <a:pt x="296971" y="104219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" y="7395832"/>
            <a:ext cx="5483509" cy="28911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7236" y="954471"/>
            <a:ext cx="1223899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545" dirty="0"/>
              <a:t>Hybrid</a:t>
            </a:r>
            <a:r>
              <a:rPr sz="5000" spc="280" dirty="0"/>
              <a:t> </a:t>
            </a:r>
            <a:r>
              <a:rPr sz="5000" spc="505" dirty="0"/>
              <a:t>Search:</a:t>
            </a:r>
            <a:r>
              <a:rPr sz="5000" spc="285" dirty="0"/>
              <a:t> </a:t>
            </a:r>
            <a:r>
              <a:rPr sz="5000" spc="610" dirty="0"/>
              <a:t>Best</a:t>
            </a:r>
            <a:r>
              <a:rPr sz="5000" spc="285" dirty="0"/>
              <a:t> </a:t>
            </a:r>
            <a:r>
              <a:rPr sz="5000" spc="550" dirty="0"/>
              <a:t>of</a:t>
            </a:r>
            <a:r>
              <a:rPr sz="5000" spc="280" dirty="0"/>
              <a:t> </a:t>
            </a:r>
            <a:r>
              <a:rPr sz="5000" spc="615" dirty="0"/>
              <a:t>Both</a:t>
            </a:r>
            <a:r>
              <a:rPr sz="5000" spc="285" dirty="0"/>
              <a:t> </a:t>
            </a:r>
            <a:r>
              <a:rPr sz="5000" spc="480" dirty="0"/>
              <a:t>Worlds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625469" y="2824495"/>
            <a:ext cx="11180445" cy="311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185" dirty="0">
                <a:solidFill>
                  <a:srgbClr val="FFFFFF"/>
                </a:solidFill>
                <a:latin typeface="Arial Narrow"/>
                <a:cs typeface="Arial Narrow"/>
              </a:rPr>
              <a:t>Vector</a:t>
            </a:r>
            <a:r>
              <a:rPr sz="2250" b="1" spc="21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30" dirty="0">
                <a:solidFill>
                  <a:srgbClr val="FFFFFF"/>
                </a:solidFill>
                <a:latin typeface="Arial Narrow"/>
                <a:cs typeface="Arial Narrow"/>
              </a:rPr>
              <a:t>Search</a:t>
            </a:r>
            <a:r>
              <a:rPr sz="2250" b="1" spc="204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25" dirty="0">
                <a:solidFill>
                  <a:srgbClr val="FFFFFF"/>
                </a:solidFill>
                <a:latin typeface="Arial Narrow"/>
                <a:cs typeface="Arial Narrow"/>
              </a:rPr>
              <a:t>(FAISS)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: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Semantic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understanding;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finds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concepts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b="1" spc="190" dirty="0">
                <a:solidFill>
                  <a:srgbClr val="FFFFFF"/>
                </a:solidFill>
                <a:latin typeface="Arial Narrow"/>
                <a:cs typeface="Arial Narrow"/>
              </a:rPr>
              <a:t>Keyword</a:t>
            </a:r>
            <a:r>
              <a:rPr sz="2250" b="1" spc="229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30" dirty="0">
                <a:solidFill>
                  <a:srgbClr val="FFFFFF"/>
                </a:solidFill>
                <a:latin typeface="Arial Narrow"/>
                <a:cs typeface="Arial Narrow"/>
              </a:rPr>
              <a:t>Search</a:t>
            </a:r>
            <a:r>
              <a:rPr sz="2250" b="1" spc="24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20" dirty="0">
                <a:solidFill>
                  <a:srgbClr val="FFFFFF"/>
                </a:solidFill>
                <a:latin typeface="Arial Narrow"/>
                <a:cs typeface="Arial Narrow"/>
              </a:rPr>
              <a:t>(SQLite</a:t>
            </a:r>
            <a:r>
              <a:rPr sz="2250" b="1" spc="24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55" dirty="0">
                <a:solidFill>
                  <a:srgbClr val="FFFFFF"/>
                </a:solidFill>
                <a:latin typeface="Arial Narrow"/>
                <a:cs typeface="Arial Narrow"/>
              </a:rPr>
              <a:t>FTS5)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: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Exact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matches;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finds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law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numbers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like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"D.Lgs</a:t>
            </a:r>
            <a:r>
              <a:rPr sz="22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81/08"</a:t>
            </a:r>
            <a:endParaRPr sz="2250">
              <a:latin typeface="Microsoft Sans Serif"/>
              <a:cs typeface="Microsoft Sans Serif"/>
            </a:endParaRPr>
          </a:p>
          <a:p>
            <a:pPr marL="12700" marR="2949575">
              <a:lnSpc>
                <a:spcPct val="266700"/>
              </a:lnSpc>
            </a:pPr>
            <a:r>
              <a:rPr sz="2250" b="1" spc="110" dirty="0">
                <a:solidFill>
                  <a:srgbClr val="FFFFFF"/>
                </a:solidFill>
                <a:latin typeface="Arial Narrow"/>
                <a:cs typeface="Arial Narrow"/>
              </a:rPr>
              <a:t>Combined</a:t>
            </a:r>
            <a:r>
              <a:rPr sz="2250" b="1" spc="1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05" dirty="0">
                <a:solidFill>
                  <a:srgbClr val="FFFFFF"/>
                </a:solidFill>
                <a:latin typeface="Arial Narrow"/>
                <a:cs typeface="Arial Narrow"/>
              </a:rPr>
              <a:t>Score:</a:t>
            </a:r>
            <a:r>
              <a:rPr sz="2250" b="1" spc="13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0.8×cosine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0.2×BM25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balanced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retrieval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Deduplicates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results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ranks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final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score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0560" y="28880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42"/>
                </a:moveTo>
                <a:lnTo>
                  <a:pt x="104208" y="296974"/>
                </a:lnTo>
                <a:lnTo>
                  <a:pt x="62381" y="275344"/>
                </a:lnTo>
                <a:lnTo>
                  <a:pt x="29398" y="242361"/>
                </a:lnTo>
                <a:lnTo>
                  <a:pt x="7767" y="200534"/>
                </a:lnTo>
                <a:lnTo>
                  <a:pt x="0" y="152372"/>
                </a:lnTo>
                <a:lnTo>
                  <a:pt x="7767" y="104211"/>
                </a:lnTo>
                <a:lnTo>
                  <a:pt x="29398" y="62383"/>
                </a:lnTo>
                <a:lnTo>
                  <a:pt x="62381" y="29399"/>
                </a:lnTo>
                <a:lnTo>
                  <a:pt x="104208" y="7768"/>
                </a:lnTo>
                <a:lnTo>
                  <a:pt x="152369" y="0"/>
                </a:lnTo>
                <a:lnTo>
                  <a:pt x="200530" y="7768"/>
                </a:lnTo>
                <a:lnTo>
                  <a:pt x="242357" y="29399"/>
                </a:lnTo>
                <a:lnTo>
                  <a:pt x="275340" y="62383"/>
                </a:lnTo>
                <a:lnTo>
                  <a:pt x="296971" y="104211"/>
                </a:lnTo>
                <a:lnTo>
                  <a:pt x="304739" y="152372"/>
                </a:lnTo>
                <a:lnTo>
                  <a:pt x="296971" y="200534"/>
                </a:lnTo>
                <a:lnTo>
                  <a:pt x="275340" y="242361"/>
                </a:lnTo>
                <a:lnTo>
                  <a:pt x="242357" y="275344"/>
                </a:lnTo>
                <a:lnTo>
                  <a:pt x="200530" y="296974"/>
                </a:lnTo>
                <a:lnTo>
                  <a:pt x="152369" y="304742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0560" y="37568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0560" y="57054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69"/>
                </a:moveTo>
                <a:lnTo>
                  <a:pt x="104208" y="296999"/>
                </a:lnTo>
                <a:lnTo>
                  <a:pt x="62381" y="275363"/>
                </a:lnTo>
                <a:lnTo>
                  <a:pt x="29398" y="242375"/>
                </a:lnTo>
                <a:lnTo>
                  <a:pt x="7767" y="200550"/>
                </a:lnTo>
                <a:lnTo>
                  <a:pt x="0" y="152400"/>
                </a:lnTo>
                <a:lnTo>
                  <a:pt x="7767" y="104234"/>
                </a:lnTo>
                <a:lnTo>
                  <a:pt x="29398" y="62400"/>
                </a:lnTo>
                <a:lnTo>
                  <a:pt x="62381" y="29408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8"/>
                </a:lnTo>
                <a:lnTo>
                  <a:pt x="275340" y="62400"/>
                </a:lnTo>
                <a:lnTo>
                  <a:pt x="296971" y="104234"/>
                </a:lnTo>
                <a:lnTo>
                  <a:pt x="304739" y="152400"/>
                </a:lnTo>
                <a:lnTo>
                  <a:pt x="296971" y="200550"/>
                </a:lnTo>
                <a:lnTo>
                  <a:pt x="275340" y="242375"/>
                </a:lnTo>
                <a:lnTo>
                  <a:pt x="242357" y="275363"/>
                </a:lnTo>
                <a:lnTo>
                  <a:pt x="200530" y="296999"/>
                </a:lnTo>
                <a:lnTo>
                  <a:pt x="152369" y="30476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0560" y="46744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19"/>
                </a:lnTo>
                <a:lnTo>
                  <a:pt x="29398" y="62393"/>
                </a:lnTo>
                <a:lnTo>
                  <a:pt x="62381" y="29406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6"/>
                </a:lnTo>
                <a:lnTo>
                  <a:pt x="275340" y="62393"/>
                </a:lnTo>
                <a:lnTo>
                  <a:pt x="296971" y="104219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" y="7395832"/>
            <a:ext cx="5483509" cy="28911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997236" y="954471"/>
            <a:ext cx="11993880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545" dirty="0"/>
              <a:t>Inference:</a:t>
            </a:r>
            <a:r>
              <a:rPr sz="5000" spc="290" dirty="0"/>
              <a:t> </a:t>
            </a:r>
            <a:r>
              <a:rPr sz="5000" spc="600" dirty="0"/>
              <a:t>Llama</a:t>
            </a:r>
            <a:r>
              <a:rPr sz="5000" spc="295" dirty="0"/>
              <a:t> </a:t>
            </a:r>
            <a:r>
              <a:rPr sz="5000" spc="555" dirty="0"/>
              <a:t>3</a:t>
            </a:r>
            <a:r>
              <a:rPr sz="5000" spc="295" dirty="0"/>
              <a:t> </a:t>
            </a:r>
            <a:r>
              <a:rPr sz="5000" spc="450" dirty="0"/>
              <a:t>(8B</a:t>
            </a:r>
            <a:r>
              <a:rPr sz="5000" spc="295" dirty="0"/>
              <a:t> </a:t>
            </a:r>
            <a:r>
              <a:rPr sz="5000" spc="535" dirty="0"/>
              <a:t>Parameter)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625469" y="2824495"/>
            <a:ext cx="10184130" cy="3112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Runs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entirely</a:t>
            </a:r>
            <a:r>
              <a:rPr sz="22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locally</a:t>
            </a:r>
            <a:r>
              <a:rPr sz="22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(Ollama</a:t>
            </a:r>
            <a:r>
              <a:rPr sz="22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orchestrator)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950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8B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version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balances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intelligence</a:t>
            </a:r>
            <a:r>
              <a:rPr sz="22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speed</a:t>
            </a: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266700"/>
              </a:lnSpc>
            </a:pPr>
            <a:r>
              <a:rPr sz="2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Receives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augmented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prompt: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[System]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30" dirty="0">
                <a:solidFill>
                  <a:srgbClr val="FFFFFF"/>
                </a:solidFill>
                <a:latin typeface="Microsoft Sans Serif"/>
                <a:cs typeface="Microsoft Sans Serif"/>
              </a:rPr>
              <a:t>[CONTEXT</a:t>
            </a:r>
            <a:r>
              <a:rPr sz="22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10" dirty="0">
                <a:solidFill>
                  <a:srgbClr val="FFFFFF"/>
                </a:solidFill>
                <a:latin typeface="Microsoft Sans Serif"/>
                <a:cs typeface="Microsoft Sans Serif"/>
              </a:rPr>
              <a:t>RAG]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[User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Query]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Forced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to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cite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sources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[1],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[2]</a:t>
            </a:r>
            <a:r>
              <a:rPr sz="22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format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0560" y="288806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42"/>
                </a:moveTo>
                <a:lnTo>
                  <a:pt x="104208" y="296974"/>
                </a:lnTo>
                <a:lnTo>
                  <a:pt x="62381" y="275344"/>
                </a:lnTo>
                <a:lnTo>
                  <a:pt x="29398" y="242361"/>
                </a:lnTo>
                <a:lnTo>
                  <a:pt x="7767" y="200534"/>
                </a:lnTo>
                <a:lnTo>
                  <a:pt x="0" y="152372"/>
                </a:lnTo>
                <a:lnTo>
                  <a:pt x="7767" y="104211"/>
                </a:lnTo>
                <a:lnTo>
                  <a:pt x="29398" y="62383"/>
                </a:lnTo>
                <a:lnTo>
                  <a:pt x="62381" y="29399"/>
                </a:lnTo>
                <a:lnTo>
                  <a:pt x="104208" y="7768"/>
                </a:lnTo>
                <a:lnTo>
                  <a:pt x="152369" y="0"/>
                </a:lnTo>
                <a:lnTo>
                  <a:pt x="200530" y="7768"/>
                </a:lnTo>
                <a:lnTo>
                  <a:pt x="242357" y="29399"/>
                </a:lnTo>
                <a:lnTo>
                  <a:pt x="275340" y="62383"/>
                </a:lnTo>
                <a:lnTo>
                  <a:pt x="296971" y="104211"/>
                </a:lnTo>
                <a:lnTo>
                  <a:pt x="304739" y="152372"/>
                </a:lnTo>
                <a:lnTo>
                  <a:pt x="296971" y="200534"/>
                </a:lnTo>
                <a:lnTo>
                  <a:pt x="275340" y="242361"/>
                </a:lnTo>
                <a:lnTo>
                  <a:pt x="242357" y="275344"/>
                </a:lnTo>
                <a:lnTo>
                  <a:pt x="200530" y="296974"/>
                </a:lnTo>
                <a:lnTo>
                  <a:pt x="152369" y="304742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0560" y="375681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0560" y="570545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69"/>
                </a:moveTo>
                <a:lnTo>
                  <a:pt x="104208" y="296999"/>
                </a:lnTo>
                <a:lnTo>
                  <a:pt x="62381" y="275363"/>
                </a:lnTo>
                <a:lnTo>
                  <a:pt x="29398" y="242375"/>
                </a:lnTo>
                <a:lnTo>
                  <a:pt x="7767" y="200550"/>
                </a:lnTo>
                <a:lnTo>
                  <a:pt x="0" y="152400"/>
                </a:lnTo>
                <a:lnTo>
                  <a:pt x="7767" y="104234"/>
                </a:lnTo>
                <a:lnTo>
                  <a:pt x="29398" y="62400"/>
                </a:lnTo>
                <a:lnTo>
                  <a:pt x="62381" y="29408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8"/>
                </a:lnTo>
                <a:lnTo>
                  <a:pt x="275340" y="62400"/>
                </a:lnTo>
                <a:lnTo>
                  <a:pt x="296971" y="104234"/>
                </a:lnTo>
                <a:lnTo>
                  <a:pt x="304739" y="152400"/>
                </a:lnTo>
                <a:lnTo>
                  <a:pt x="296971" y="200550"/>
                </a:lnTo>
                <a:lnTo>
                  <a:pt x="275340" y="242375"/>
                </a:lnTo>
                <a:lnTo>
                  <a:pt x="242357" y="275363"/>
                </a:lnTo>
                <a:lnTo>
                  <a:pt x="200530" y="296999"/>
                </a:lnTo>
                <a:lnTo>
                  <a:pt x="152369" y="30476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0560" y="467444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19"/>
                </a:lnTo>
                <a:lnTo>
                  <a:pt x="29398" y="62393"/>
                </a:lnTo>
                <a:lnTo>
                  <a:pt x="62381" y="29406"/>
                </a:lnTo>
                <a:lnTo>
                  <a:pt x="104208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7" y="29406"/>
                </a:lnTo>
                <a:lnTo>
                  <a:pt x="275340" y="62393"/>
                </a:lnTo>
                <a:lnTo>
                  <a:pt x="296971" y="104219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" y="7395832"/>
            <a:ext cx="5483509" cy="28911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730041" y="1329260"/>
            <a:ext cx="14039215" cy="788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0" spc="540" dirty="0"/>
              <a:t>AI</a:t>
            </a:r>
            <a:r>
              <a:rPr sz="5000" spc="280" dirty="0"/>
              <a:t> </a:t>
            </a:r>
            <a:r>
              <a:rPr sz="5000" spc="545" dirty="0"/>
              <a:t>Safety</a:t>
            </a:r>
            <a:r>
              <a:rPr sz="5000" spc="285" dirty="0"/>
              <a:t> </a:t>
            </a:r>
            <a:r>
              <a:rPr sz="5000" spc="450" dirty="0"/>
              <a:t>Rules:</a:t>
            </a:r>
            <a:r>
              <a:rPr sz="5000" spc="285" dirty="0"/>
              <a:t> </a:t>
            </a:r>
            <a:r>
              <a:rPr sz="5000" spc="720" dirty="0"/>
              <a:t>How</a:t>
            </a:r>
            <a:r>
              <a:rPr sz="5000" spc="285" dirty="0"/>
              <a:t> </a:t>
            </a:r>
            <a:r>
              <a:rPr sz="5000" spc="390" dirty="0"/>
              <a:t>We</a:t>
            </a:r>
            <a:r>
              <a:rPr sz="5000" spc="285" dirty="0"/>
              <a:t> </a:t>
            </a:r>
            <a:r>
              <a:rPr sz="5000" spc="610" dirty="0"/>
              <a:t>Keep</a:t>
            </a:r>
            <a:r>
              <a:rPr sz="5000" spc="285" dirty="0"/>
              <a:t> </a:t>
            </a:r>
            <a:r>
              <a:rPr sz="5000" spc="690" dirty="0"/>
              <a:t>It</a:t>
            </a:r>
            <a:r>
              <a:rPr sz="5000" spc="280" dirty="0"/>
              <a:t> </a:t>
            </a:r>
            <a:r>
              <a:rPr sz="5000" spc="580" dirty="0"/>
              <a:t>Honest</a:t>
            </a:r>
            <a:endParaRPr sz="5000"/>
          </a:p>
        </p:txBody>
      </p:sp>
      <p:sp>
        <p:nvSpPr>
          <p:cNvPr id="5" name="object 5"/>
          <p:cNvSpPr txBox="1"/>
          <p:nvPr/>
        </p:nvSpPr>
        <p:spPr>
          <a:xfrm>
            <a:off x="2558669" y="2459927"/>
            <a:ext cx="11741150" cy="505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8180">
              <a:lnSpc>
                <a:spcPct val="133300"/>
              </a:lnSpc>
              <a:spcBef>
                <a:spcPts val="100"/>
              </a:spcBef>
            </a:pPr>
            <a:r>
              <a:rPr sz="2250" b="1" spc="195" dirty="0">
                <a:solidFill>
                  <a:srgbClr val="FFFFFF"/>
                </a:solidFill>
                <a:latin typeface="Arial Narrow"/>
                <a:cs typeface="Arial Narrow"/>
              </a:rPr>
              <a:t>Safety</a:t>
            </a:r>
            <a:r>
              <a:rPr sz="2250" b="1" spc="19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80" dirty="0">
                <a:solidFill>
                  <a:srgbClr val="FFFFFF"/>
                </a:solidFill>
                <a:latin typeface="Arial Narrow"/>
                <a:cs typeface="Arial Narrow"/>
              </a:rPr>
              <a:t>Sign</a:t>
            </a:r>
            <a:r>
              <a:rPr sz="22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90" dirty="0">
                <a:solidFill>
                  <a:srgbClr val="FFFFFF"/>
                </a:solidFill>
                <a:latin typeface="Arial Narrow"/>
                <a:cs typeface="Arial Narrow"/>
              </a:rPr>
              <a:t>Rules:</a:t>
            </a:r>
            <a:r>
              <a:rPr sz="2250" b="1" spc="204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memorizes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meanings</a:t>
            </a:r>
            <a:r>
              <a:rPr sz="22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colors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(Red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315" dirty="0">
                <a:solidFill>
                  <a:srgbClr val="FFFFFF"/>
                </a:solidFill>
                <a:latin typeface="Microsoft Sans Serif"/>
                <a:cs typeface="Microsoft Sans Serif"/>
              </a:rPr>
              <a:t>=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Danger,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Blue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265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Must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Do,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Yellow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265" dirty="0">
                <a:solidFill>
                  <a:srgbClr val="FFFFFF"/>
                </a:solidFill>
                <a:latin typeface="Microsoft Sans Serif"/>
                <a:cs typeface="Microsoft Sans Serif"/>
              </a:rPr>
              <a:t>=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Warning)</a:t>
            </a:r>
            <a:r>
              <a:rPr sz="22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always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uses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them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correctly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 marR="113664">
              <a:lnSpc>
                <a:spcPct val="133300"/>
              </a:lnSpc>
              <a:spcBef>
                <a:spcPts val="5"/>
              </a:spcBef>
            </a:pPr>
            <a:r>
              <a:rPr sz="2250" b="1" spc="210" dirty="0">
                <a:solidFill>
                  <a:srgbClr val="FFFFFF"/>
                </a:solidFill>
                <a:latin typeface="Arial Narrow"/>
                <a:cs typeface="Arial Narrow"/>
              </a:rPr>
              <a:t>Math</a:t>
            </a:r>
            <a:r>
              <a:rPr sz="2250" b="1" spc="20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20" dirty="0">
                <a:solidFill>
                  <a:srgbClr val="FFFFFF"/>
                </a:solidFill>
                <a:latin typeface="Arial Narrow"/>
                <a:cs typeface="Arial Narrow"/>
              </a:rPr>
              <a:t>Calculator:</a:t>
            </a:r>
            <a:r>
              <a:rPr sz="2250" b="1" spc="21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When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doing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math,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65" dirty="0">
                <a:solidFill>
                  <a:srgbClr val="FFFFFF"/>
                </a:solidFill>
                <a:latin typeface="Microsoft Sans Serif"/>
                <a:cs typeface="Microsoft Sans Serif"/>
              </a:rPr>
              <a:t>system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uses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calculator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instead</a:t>
            </a:r>
            <a:r>
              <a:rPr sz="22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guessing—</a:t>
            </a:r>
            <a:r>
              <a:rPr sz="2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so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numbers</a:t>
            </a:r>
            <a:r>
              <a:rPr sz="2250" spc="2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are</a:t>
            </a:r>
            <a:r>
              <a:rPr sz="2250" spc="2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always</a:t>
            </a:r>
            <a:r>
              <a:rPr sz="2250" spc="27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right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 marR="627380">
              <a:lnSpc>
                <a:spcPct val="133300"/>
              </a:lnSpc>
              <a:spcBef>
                <a:spcPts val="5"/>
              </a:spcBef>
            </a:pPr>
            <a:r>
              <a:rPr sz="2250" b="1" spc="155" dirty="0">
                <a:solidFill>
                  <a:srgbClr val="FFFFFF"/>
                </a:solidFill>
                <a:latin typeface="Arial Narrow"/>
                <a:cs typeface="Arial Narrow"/>
              </a:rPr>
              <a:t>Honesty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75" dirty="0">
                <a:solidFill>
                  <a:srgbClr val="FFFFFF"/>
                </a:solidFill>
                <a:latin typeface="Arial Narrow"/>
                <a:cs typeface="Arial Narrow"/>
              </a:rPr>
              <a:t>Check: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If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can't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answer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documents,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it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says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"I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don't</a:t>
            </a:r>
            <a:r>
              <a:rPr sz="22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know"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instead</a:t>
            </a:r>
            <a:r>
              <a:rPr sz="22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of</a:t>
            </a:r>
            <a:r>
              <a:rPr sz="22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making</a:t>
            </a:r>
            <a:r>
              <a:rPr sz="22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things</a:t>
            </a:r>
            <a:r>
              <a:rPr sz="22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up</a:t>
            </a:r>
            <a:endParaRPr sz="22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50"/>
              </a:spcBef>
            </a:pPr>
            <a:endParaRPr sz="2250">
              <a:latin typeface="Microsoft Sans Serif"/>
              <a:cs typeface="Microsoft Sans Serif"/>
            </a:endParaRPr>
          </a:p>
          <a:p>
            <a:pPr marL="12700" marR="5080">
              <a:lnSpc>
                <a:spcPct val="133300"/>
              </a:lnSpc>
            </a:pPr>
            <a:r>
              <a:rPr sz="2250" b="1" spc="155" dirty="0">
                <a:solidFill>
                  <a:srgbClr val="FFFFFF"/>
                </a:solidFill>
                <a:latin typeface="Arial Narrow"/>
                <a:cs typeface="Arial Narrow"/>
              </a:rPr>
              <a:t>No</a:t>
            </a:r>
            <a:r>
              <a:rPr sz="22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60" dirty="0">
                <a:solidFill>
                  <a:srgbClr val="FFFFFF"/>
                </a:solidFill>
                <a:latin typeface="Arial Narrow"/>
                <a:cs typeface="Arial Narrow"/>
              </a:rPr>
              <a:t>Fake</a:t>
            </a:r>
            <a:r>
              <a:rPr sz="2250" b="1" spc="22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60" dirty="0">
                <a:solidFill>
                  <a:srgbClr val="FFFFFF"/>
                </a:solidFill>
                <a:latin typeface="Arial Narrow"/>
                <a:cs typeface="Arial Narrow"/>
              </a:rPr>
              <a:t>Answers:</a:t>
            </a:r>
            <a:r>
              <a:rPr sz="2250" b="1" spc="229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These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three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rules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work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together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stop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2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from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dirty="0">
                <a:solidFill>
                  <a:srgbClr val="FFFFFF"/>
                </a:solidFill>
                <a:latin typeface="Microsoft Sans Serif"/>
                <a:cs typeface="Microsoft Sans Serif"/>
              </a:rPr>
              <a:t>inventing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false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or </a:t>
            </a:r>
            <a:r>
              <a:rPr sz="22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wrong</a:t>
            </a:r>
            <a:r>
              <a:rPr sz="22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70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2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2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information</a:t>
            </a:r>
            <a:endParaRPr sz="22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60560" y="263757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0"/>
                </a:lnTo>
                <a:lnTo>
                  <a:pt x="29398" y="242357"/>
                </a:lnTo>
                <a:lnTo>
                  <a:pt x="7767" y="200530"/>
                </a:lnTo>
                <a:lnTo>
                  <a:pt x="0" y="152369"/>
                </a:lnTo>
                <a:lnTo>
                  <a:pt x="7767" y="104208"/>
                </a:lnTo>
                <a:lnTo>
                  <a:pt x="29398" y="62381"/>
                </a:lnTo>
                <a:lnTo>
                  <a:pt x="62381" y="29398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8"/>
                </a:lnTo>
                <a:lnTo>
                  <a:pt x="275340" y="62381"/>
                </a:lnTo>
                <a:lnTo>
                  <a:pt x="296971" y="104208"/>
                </a:lnTo>
                <a:lnTo>
                  <a:pt x="304739" y="152369"/>
                </a:lnTo>
                <a:lnTo>
                  <a:pt x="296971" y="200530"/>
                </a:lnTo>
                <a:lnTo>
                  <a:pt x="275340" y="242357"/>
                </a:lnTo>
                <a:lnTo>
                  <a:pt x="242357" y="275340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60560" y="391671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60560" y="674135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60560" y="543973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7" y="29397"/>
                </a:lnTo>
                <a:lnTo>
                  <a:pt x="275340" y="62380"/>
                </a:lnTo>
                <a:lnTo>
                  <a:pt x="296971" y="104207"/>
                </a:lnTo>
                <a:lnTo>
                  <a:pt x="304739" y="152369"/>
                </a:lnTo>
                <a:lnTo>
                  <a:pt x="296971" y="200531"/>
                </a:lnTo>
                <a:lnTo>
                  <a:pt x="275340" y="242358"/>
                </a:lnTo>
                <a:lnTo>
                  <a:pt x="242357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91" y="3227528"/>
            <a:ext cx="7290165" cy="27622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1490" y="3227528"/>
            <a:ext cx="7290181" cy="27622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5491" y="6500555"/>
            <a:ext cx="7290165" cy="2762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31490" y="6380303"/>
            <a:ext cx="7290181" cy="27622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961514">
              <a:lnSpc>
                <a:spcPct val="100000"/>
              </a:lnSpc>
              <a:spcBef>
                <a:spcPts val="130"/>
              </a:spcBef>
            </a:pPr>
            <a:r>
              <a:rPr spc="490" dirty="0"/>
              <a:t>System</a:t>
            </a:r>
            <a:r>
              <a:rPr spc="250" dirty="0"/>
              <a:t> </a:t>
            </a:r>
            <a:r>
              <a:rPr spc="500" dirty="0"/>
              <a:t>Architecture:</a:t>
            </a:r>
            <a:r>
              <a:rPr spc="254" dirty="0"/>
              <a:t> </a:t>
            </a:r>
            <a:r>
              <a:rPr spc="390" dirty="0"/>
              <a:t>Four</a:t>
            </a:r>
            <a:r>
              <a:rPr spc="250" dirty="0"/>
              <a:t> </a:t>
            </a:r>
            <a:r>
              <a:rPr spc="459" dirty="0"/>
              <a:t>Components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438252" y="3691290"/>
            <a:ext cx="1238250" cy="3016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00" spc="280" dirty="0">
                <a:solidFill>
                  <a:srgbClr val="FFFFFF"/>
                </a:solidFill>
                <a:latin typeface="Arial"/>
                <a:cs typeface="Arial"/>
              </a:rPr>
              <a:t>Back</a:t>
            </a:r>
            <a:r>
              <a:rPr sz="1800" spc="200" dirty="0">
                <a:solidFill>
                  <a:srgbClr val="FFFFFF"/>
                </a:solidFill>
                <a:latin typeface="Arial"/>
                <a:cs typeface="Arial"/>
              </a:rPr>
              <a:t> end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6530" y="6836429"/>
            <a:ext cx="1555750" cy="3016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spc="160" dirty="0">
                <a:solidFill>
                  <a:srgbClr val="FFFFFF"/>
                </a:solidFill>
                <a:latin typeface="Arial"/>
                <a:cs typeface="Arial"/>
              </a:rPr>
              <a:t>RAG</a:t>
            </a:r>
            <a:r>
              <a:rPr sz="180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04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97611" y="3691290"/>
            <a:ext cx="5116830" cy="10541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110"/>
              </a:spcBef>
            </a:pPr>
            <a:r>
              <a:rPr sz="1800" spc="220" dirty="0">
                <a:solidFill>
                  <a:srgbClr val="FFFFFF"/>
                </a:solidFill>
                <a:latin typeface="Arial"/>
                <a:cs typeface="Arial"/>
              </a:rPr>
              <a:t>Frontend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950" b="1" spc="120" dirty="0">
                <a:solidFill>
                  <a:srgbClr val="FFFFFF"/>
                </a:solidFill>
                <a:latin typeface="Arial Narrow"/>
                <a:cs typeface="Arial Narrow"/>
              </a:rPr>
              <a:t>React</a:t>
            </a:r>
            <a:r>
              <a:rPr sz="1950" b="1" spc="21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05" dirty="0">
                <a:solidFill>
                  <a:srgbClr val="FFFFFF"/>
                </a:solidFill>
                <a:latin typeface="Arial Narrow"/>
                <a:cs typeface="Arial Narrow"/>
              </a:rPr>
              <a:t>SPA;</a:t>
            </a:r>
            <a:r>
              <a:rPr sz="1950" b="1" spc="21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85" dirty="0">
                <a:solidFill>
                  <a:srgbClr val="FFFFFF"/>
                </a:solidFill>
                <a:latin typeface="Arial Narrow"/>
                <a:cs typeface="Arial Narrow"/>
              </a:rPr>
              <a:t>SSE</a:t>
            </a:r>
            <a:r>
              <a:rPr sz="1950" b="1" spc="21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80" dirty="0">
                <a:solidFill>
                  <a:srgbClr val="FFFFFF"/>
                </a:solidFill>
                <a:latin typeface="Arial Narrow"/>
                <a:cs typeface="Arial Narrow"/>
              </a:rPr>
              <a:t>stream</a:t>
            </a:r>
            <a:r>
              <a:rPr sz="1950" b="1" spc="204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90" dirty="0">
                <a:solidFill>
                  <a:srgbClr val="FFFFFF"/>
                </a:solidFill>
                <a:latin typeface="Arial Narrow"/>
                <a:cs typeface="Arial Narrow"/>
              </a:rPr>
              <a:t>for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60" dirty="0">
                <a:solidFill>
                  <a:srgbClr val="FFFFFF"/>
                </a:solidFill>
                <a:latin typeface="Arial Narrow"/>
                <a:cs typeface="Arial Narrow"/>
              </a:rPr>
              <a:t>real-time</a:t>
            </a:r>
            <a:r>
              <a:rPr sz="1950" b="1" spc="21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40" dirty="0">
                <a:solidFill>
                  <a:srgbClr val="FFFFFF"/>
                </a:solidFill>
                <a:latin typeface="Arial Narrow"/>
                <a:cs typeface="Arial Narrow"/>
              </a:rPr>
              <a:t>tokens</a:t>
            </a:r>
            <a:endParaRPr sz="195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73624" y="4416775"/>
            <a:ext cx="492315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10" dirty="0">
                <a:solidFill>
                  <a:srgbClr val="FFFFFF"/>
                </a:solidFill>
                <a:latin typeface="Arial Narrow"/>
                <a:cs typeface="Arial Narrow"/>
              </a:rPr>
              <a:t>Node.js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25" dirty="0">
                <a:solidFill>
                  <a:srgbClr val="FFFFFF"/>
                </a:solidFill>
                <a:latin typeface="Arial Narrow"/>
                <a:cs typeface="Arial Narrow"/>
              </a:rPr>
              <a:t>MongoDB;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25" dirty="0">
                <a:solidFill>
                  <a:srgbClr val="FFFFFF"/>
                </a:solidFill>
                <a:latin typeface="Arial Narrow"/>
                <a:cs typeface="Arial Narrow"/>
              </a:rPr>
              <a:t>auth,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95" dirty="0">
                <a:solidFill>
                  <a:srgbClr val="FFFFFF"/>
                </a:solidFill>
                <a:latin typeface="Arial Narrow"/>
                <a:cs typeface="Arial Narrow"/>
              </a:rPr>
              <a:t>session,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40" dirty="0">
                <a:solidFill>
                  <a:srgbClr val="FFFFFF"/>
                </a:solidFill>
                <a:latin typeface="Arial Narrow"/>
                <a:cs typeface="Arial Narrow"/>
              </a:rPr>
              <a:t>storage</a:t>
            </a:r>
            <a:endParaRPr sz="1950">
              <a:latin typeface="Arial Narrow"/>
              <a:cs typeface="Arial Narro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8749" y="6956704"/>
            <a:ext cx="3876040" cy="1058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4325">
              <a:lnSpc>
                <a:spcPct val="100000"/>
              </a:lnSpc>
              <a:spcBef>
                <a:spcPts val="105"/>
              </a:spcBef>
            </a:pPr>
            <a:r>
              <a:rPr sz="1800" spc="220" dirty="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sz="1800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235" dirty="0">
                <a:solidFill>
                  <a:srgbClr val="FFFFFF"/>
                </a:solidFill>
                <a:latin typeface="Arial"/>
                <a:cs typeface="Arial"/>
              </a:rPr>
              <a:t>Inference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45"/>
              </a:spcBef>
            </a:pP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50" b="1" spc="135" dirty="0">
                <a:solidFill>
                  <a:srgbClr val="FFFFFF"/>
                </a:solidFill>
                <a:latin typeface="Arial Narrow"/>
                <a:cs typeface="Arial Narrow"/>
              </a:rPr>
              <a:t>FastAPI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35" dirty="0">
                <a:solidFill>
                  <a:srgbClr val="FFFFFF"/>
                </a:solidFill>
                <a:latin typeface="Arial Narrow"/>
                <a:cs typeface="Arial Narrow"/>
              </a:rPr>
              <a:t>Ollama;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60" dirty="0">
                <a:solidFill>
                  <a:srgbClr val="FFFFFF"/>
                </a:solidFill>
                <a:latin typeface="Arial Narrow"/>
                <a:cs typeface="Arial Narrow"/>
              </a:rPr>
              <a:t>Llama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265" dirty="0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50" dirty="0">
                <a:solidFill>
                  <a:srgbClr val="FFFFFF"/>
                </a:solidFill>
                <a:latin typeface="Arial Narrow"/>
                <a:cs typeface="Arial Narrow"/>
              </a:rPr>
              <a:t>model</a:t>
            </a:r>
            <a:endParaRPr sz="1950">
              <a:latin typeface="Arial Narrow"/>
              <a:cs typeface="Arial Narro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74747" y="7566486"/>
            <a:ext cx="443420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14" dirty="0">
                <a:solidFill>
                  <a:srgbClr val="FFFFFF"/>
                </a:solidFill>
                <a:latin typeface="Arial Narrow"/>
                <a:cs typeface="Arial Narrow"/>
              </a:rPr>
              <a:t>FAISS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dirty="0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80" dirty="0">
                <a:solidFill>
                  <a:srgbClr val="FFFFFF"/>
                </a:solidFill>
                <a:latin typeface="Arial Narrow"/>
                <a:cs typeface="Arial Narrow"/>
              </a:rPr>
              <a:t>SQLite;</a:t>
            </a:r>
            <a:r>
              <a:rPr sz="19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30" dirty="0">
                <a:solidFill>
                  <a:srgbClr val="FFFFFF"/>
                </a:solidFill>
                <a:latin typeface="Arial Narrow"/>
                <a:cs typeface="Arial Narrow"/>
              </a:rPr>
              <a:t>embedding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95" dirty="0">
                <a:solidFill>
                  <a:srgbClr val="FFFFFF"/>
                </a:solidFill>
                <a:latin typeface="Arial Narrow"/>
                <a:cs typeface="Arial Narrow"/>
              </a:rPr>
              <a:t>&amp;</a:t>
            </a:r>
            <a:r>
              <a:rPr sz="19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1950" b="1" spc="145" dirty="0">
                <a:solidFill>
                  <a:srgbClr val="FFFFFF"/>
                </a:solidFill>
                <a:latin typeface="Arial Narrow"/>
                <a:cs typeface="Arial Narrow"/>
              </a:rPr>
              <a:t>retrieval</a:t>
            </a:r>
            <a:endParaRPr sz="19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7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80" dirty="0"/>
              <a:t>Testing</a:t>
            </a:r>
            <a:r>
              <a:rPr spc="240" dirty="0"/>
              <a:t> </a:t>
            </a:r>
            <a:r>
              <a:rPr spc="470" dirty="0"/>
              <a:t>G</a:t>
            </a:r>
            <a:r>
              <a:rPr spc="240" dirty="0"/>
              <a:t> </a:t>
            </a:r>
            <a:r>
              <a:rPr spc="450" dirty="0"/>
              <a:t>Evaluation</a:t>
            </a:r>
            <a:r>
              <a:rPr spc="240" dirty="0"/>
              <a:t> </a:t>
            </a:r>
            <a:r>
              <a:rPr spc="470" dirty="0"/>
              <a:t>Strategy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0605" y="1833374"/>
            <a:ext cx="10967394" cy="8453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74578" y="3346934"/>
            <a:ext cx="11575415" cy="3557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1" spc="160" dirty="0">
                <a:solidFill>
                  <a:srgbClr val="FFFFFF"/>
                </a:solidFill>
                <a:latin typeface="Arial Narrow"/>
                <a:cs typeface="Arial Narrow"/>
              </a:rPr>
              <a:t>Retrieval</a:t>
            </a:r>
            <a:r>
              <a:rPr sz="2550" b="1" spc="29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b="1" spc="140" dirty="0">
                <a:solidFill>
                  <a:srgbClr val="FFFFFF"/>
                </a:solidFill>
                <a:latin typeface="Arial Narrow"/>
                <a:cs typeface="Arial Narrow"/>
              </a:rPr>
              <a:t>Accuracy:</a:t>
            </a:r>
            <a:r>
              <a:rPr sz="2550" b="1" spc="29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Hybrid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search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finds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correct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chapters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even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35" dirty="0">
                <a:solidFill>
                  <a:srgbClr val="FFFFFF"/>
                </a:solidFill>
                <a:latin typeface="Microsoft Sans Serif"/>
                <a:cs typeface="Microsoft Sans Serif"/>
              </a:rPr>
              <a:t>synonyms</a:t>
            </a:r>
            <a:endParaRPr sz="25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05"/>
              </a:spcBef>
            </a:pP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550" b="1" spc="140" dirty="0">
                <a:solidFill>
                  <a:srgbClr val="FFFFFF"/>
                </a:solidFill>
                <a:latin typeface="Arial Narrow"/>
                <a:cs typeface="Arial Narrow"/>
              </a:rPr>
              <a:t>Faithfulness</a:t>
            </a:r>
            <a:r>
              <a:rPr sz="2550" spc="14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5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114" dirty="0">
                <a:solidFill>
                  <a:srgbClr val="FFFFFF"/>
                </a:solidFill>
                <a:latin typeface="Microsoft Sans Serif"/>
                <a:cs typeface="Microsoft Sans Serif"/>
              </a:rPr>
              <a:t>strictly</a:t>
            </a:r>
            <a:r>
              <a:rPr sz="25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cited</a:t>
            </a:r>
            <a:r>
              <a:rPr sz="25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sources;</a:t>
            </a:r>
            <a:r>
              <a:rPr sz="25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45" dirty="0">
                <a:solidFill>
                  <a:srgbClr val="FFFFFF"/>
                </a:solidFill>
                <a:latin typeface="Microsoft Sans Serif"/>
                <a:cs typeface="Microsoft Sans Serif"/>
              </a:rPr>
              <a:t>refused</a:t>
            </a:r>
            <a:r>
              <a:rPr sz="255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to</a:t>
            </a:r>
            <a:r>
              <a:rPr sz="25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hallucinate</a:t>
            </a:r>
            <a:endParaRPr sz="25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50" b="1" spc="125" dirty="0">
                <a:solidFill>
                  <a:srgbClr val="FFFFFF"/>
                </a:solidFill>
                <a:latin typeface="Arial Narrow"/>
                <a:cs typeface="Arial Narrow"/>
              </a:rPr>
              <a:t>Technical</a:t>
            </a:r>
            <a:r>
              <a:rPr sz="25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b="1" spc="125" dirty="0">
                <a:solidFill>
                  <a:srgbClr val="FFFFFF"/>
                </a:solidFill>
                <a:latin typeface="Arial Narrow"/>
                <a:cs typeface="Arial Narrow"/>
              </a:rPr>
              <a:t>Validation:</a:t>
            </a:r>
            <a:r>
              <a:rPr sz="2550" b="1" spc="21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Fixed</a:t>
            </a:r>
            <a:r>
              <a:rPr sz="25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-125" dirty="0">
                <a:solidFill>
                  <a:srgbClr val="FFFFFF"/>
                </a:solidFill>
                <a:latin typeface="Microsoft Sans Serif"/>
                <a:cs typeface="Microsoft Sans Serif"/>
              </a:rPr>
              <a:t>FAISS-</a:t>
            </a:r>
            <a:r>
              <a:rPr sz="255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SQLite</a:t>
            </a:r>
            <a:r>
              <a:rPr sz="25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number</a:t>
            </a:r>
            <a:r>
              <a:rPr sz="25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format</a:t>
            </a:r>
            <a:r>
              <a:rPr sz="25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incompatibility</a:t>
            </a:r>
            <a:endParaRPr sz="25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550" b="1" spc="114" dirty="0">
                <a:solidFill>
                  <a:srgbClr val="FFFFFF"/>
                </a:solidFill>
                <a:latin typeface="Arial Narrow"/>
                <a:cs typeface="Arial Narrow"/>
              </a:rPr>
              <a:t>Robustness:</a:t>
            </a:r>
            <a:r>
              <a:rPr sz="2550" b="1" spc="27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Stress-</a:t>
            </a:r>
            <a:r>
              <a:rPr sz="25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tested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with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multilingual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Italian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r>
              <a:rPr sz="2550" spc="1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English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queries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9667" y="33994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9667" y="44624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9667" y="65508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9667" y="552544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7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15" dirty="0"/>
              <a:t>Frameworks</a:t>
            </a:r>
            <a:r>
              <a:rPr spc="245" dirty="0"/>
              <a:t> </a:t>
            </a:r>
            <a:r>
              <a:rPr spc="470" dirty="0"/>
              <a:t>G</a:t>
            </a:r>
            <a:r>
              <a:rPr spc="245" dirty="0"/>
              <a:t> </a:t>
            </a:r>
            <a:r>
              <a:rPr spc="490" dirty="0"/>
              <a:t>Infrastructure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0605" y="1833374"/>
            <a:ext cx="10967394" cy="8453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74578" y="3346934"/>
            <a:ext cx="9590405" cy="3557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1" spc="150" dirty="0">
                <a:solidFill>
                  <a:srgbClr val="FFFFFF"/>
                </a:solidFill>
                <a:latin typeface="Arial Narrow"/>
                <a:cs typeface="Arial Narrow"/>
              </a:rPr>
              <a:t>Ollama:</a:t>
            </a:r>
            <a:r>
              <a:rPr sz="2550" b="1" spc="18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Makes</a:t>
            </a:r>
            <a:r>
              <a:rPr sz="25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r>
              <a:rPr sz="25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run</a:t>
            </a:r>
            <a:r>
              <a:rPr sz="2550" spc="9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110" dirty="0">
                <a:solidFill>
                  <a:srgbClr val="FFFFFF"/>
                </a:solidFill>
                <a:latin typeface="Microsoft Sans Serif"/>
                <a:cs typeface="Microsoft Sans Serif"/>
              </a:rPr>
              <a:t>fast</a:t>
            </a:r>
            <a:r>
              <a:rPr sz="25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smooth</a:t>
            </a:r>
            <a:endParaRPr sz="25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05"/>
              </a:spcBef>
            </a:pP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550" b="1" spc="95" dirty="0">
                <a:solidFill>
                  <a:srgbClr val="FFFFFF"/>
                </a:solidFill>
                <a:latin typeface="Arial Narrow"/>
                <a:cs typeface="Arial Narrow"/>
              </a:rPr>
              <a:t>FAISS:</a:t>
            </a:r>
            <a:r>
              <a:rPr sz="25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Searches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through</a:t>
            </a:r>
            <a:r>
              <a:rPr sz="25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documents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really</a:t>
            </a:r>
            <a:r>
              <a:rPr sz="2550" spc="1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quickly</a:t>
            </a:r>
            <a:endParaRPr sz="25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550" b="1" spc="130" dirty="0">
                <a:solidFill>
                  <a:srgbClr val="FFFFFF"/>
                </a:solidFill>
                <a:latin typeface="Arial Narrow"/>
                <a:cs typeface="Arial Narrow"/>
              </a:rPr>
              <a:t>FastAPI:</a:t>
            </a:r>
            <a:r>
              <a:rPr sz="25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Handles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questions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answers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between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you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5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AI</a:t>
            </a:r>
            <a:endParaRPr sz="25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300"/>
              </a:spcBef>
            </a:pPr>
            <a:endParaRPr sz="2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550" b="1" spc="185" dirty="0">
                <a:solidFill>
                  <a:srgbClr val="FFFFFF"/>
                </a:solidFill>
                <a:latin typeface="Arial Narrow"/>
                <a:cs typeface="Arial Narrow"/>
              </a:rPr>
              <a:t>Sympy:</a:t>
            </a:r>
            <a:r>
              <a:rPr sz="2550" b="1" spc="29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Handles</a:t>
            </a:r>
            <a:r>
              <a:rPr sz="255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all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the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math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so</a:t>
            </a:r>
            <a:r>
              <a:rPr sz="255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it's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dirty="0">
                <a:solidFill>
                  <a:srgbClr val="FFFFFF"/>
                </a:solidFill>
                <a:latin typeface="Microsoft Sans Serif"/>
                <a:cs typeface="Microsoft Sans Serif"/>
              </a:rPr>
              <a:t>always</a:t>
            </a:r>
            <a:r>
              <a:rPr sz="2550" spc="19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55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right</a:t>
            </a:r>
            <a:endParaRPr sz="25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9667" y="339946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9667" y="446245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9667" y="655088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609667" y="552544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71"/>
                </a:lnTo>
                <a:lnTo>
                  <a:pt x="62383" y="275341"/>
                </a:lnTo>
                <a:lnTo>
                  <a:pt x="29399" y="242358"/>
                </a:lnTo>
                <a:lnTo>
                  <a:pt x="7768" y="200531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" y="7395832"/>
            <a:ext cx="5483509" cy="28911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05"/>
              </a:spcBef>
            </a:pPr>
            <a:r>
              <a:rPr sz="5000" spc="570" dirty="0"/>
              <a:t>Deployment</a:t>
            </a:r>
            <a:r>
              <a:rPr sz="5000" spc="295" dirty="0"/>
              <a:t> </a:t>
            </a:r>
            <a:r>
              <a:rPr sz="5000" spc="540" dirty="0"/>
              <a:t>G</a:t>
            </a:r>
            <a:r>
              <a:rPr sz="5000" spc="300" dirty="0"/>
              <a:t> </a:t>
            </a:r>
            <a:r>
              <a:rPr sz="5000" spc="530" dirty="0"/>
              <a:t>Privacy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50" b="1" spc="195" dirty="0">
                <a:latin typeface="Arial Narrow"/>
                <a:cs typeface="Arial Narrow"/>
              </a:rPr>
              <a:t>Fully</a:t>
            </a:r>
            <a:r>
              <a:rPr sz="2550" b="1" spc="265" dirty="0">
                <a:latin typeface="Arial Narrow"/>
                <a:cs typeface="Arial Narrow"/>
              </a:rPr>
              <a:t> </a:t>
            </a:r>
            <a:r>
              <a:rPr sz="2550" b="1" spc="140" dirty="0">
                <a:latin typeface="Arial Narrow"/>
                <a:cs typeface="Arial Narrow"/>
              </a:rPr>
              <a:t>Offline:</a:t>
            </a:r>
            <a:r>
              <a:rPr sz="2550" b="1" spc="260" dirty="0">
                <a:latin typeface="Arial Narrow"/>
                <a:cs typeface="Arial Narrow"/>
              </a:rPr>
              <a:t> </a:t>
            </a:r>
            <a:r>
              <a:rPr sz="2550" dirty="0"/>
              <a:t>No</a:t>
            </a:r>
            <a:r>
              <a:rPr sz="2550" spc="170" dirty="0"/>
              <a:t> </a:t>
            </a:r>
            <a:r>
              <a:rPr sz="2550" dirty="0"/>
              <a:t>cloud,</a:t>
            </a:r>
            <a:r>
              <a:rPr sz="2550" spc="170" dirty="0"/>
              <a:t> </a:t>
            </a:r>
            <a:r>
              <a:rPr sz="2550" dirty="0"/>
              <a:t>no</a:t>
            </a:r>
            <a:r>
              <a:rPr sz="2550" spc="165" dirty="0"/>
              <a:t> </a:t>
            </a:r>
            <a:r>
              <a:rPr sz="2550" dirty="0"/>
              <a:t>data</a:t>
            </a:r>
            <a:r>
              <a:rPr sz="2550" spc="170" dirty="0"/>
              <a:t> </a:t>
            </a:r>
            <a:r>
              <a:rPr sz="2550" spc="-10" dirty="0"/>
              <a:t>transmission</a:t>
            </a:r>
            <a:endParaRPr sz="2550">
              <a:latin typeface="Arial Narrow"/>
              <a:cs typeface="Arial Narrow"/>
            </a:endParaRPr>
          </a:p>
          <a:p>
            <a:pPr marL="12700" marR="5080">
              <a:lnSpc>
                <a:spcPts val="8250"/>
              </a:lnSpc>
              <a:spcBef>
                <a:spcPts val="565"/>
              </a:spcBef>
            </a:pPr>
            <a:r>
              <a:rPr sz="2550" b="1" spc="130" dirty="0">
                <a:latin typeface="Arial Narrow"/>
                <a:cs typeface="Arial Narrow"/>
              </a:rPr>
              <a:t>Local</a:t>
            </a:r>
            <a:r>
              <a:rPr sz="2550" b="1" spc="210" dirty="0">
                <a:latin typeface="Arial Narrow"/>
                <a:cs typeface="Arial Narrow"/>
              </a:rPr>
              <a:t> </a:t>
            </a:r>
            <a:r>
              <a:rPr sz="2550" b="1" spc="140" dirty="0">
                <a:latin typeface="Arial Narrow"/>
                <a:cs typeface="Arial Narrow"/>
              </a:rPr>
              <a:t>Inference</a:t>
            </a:r>
            <a:r>
              <a:rPr sz="2550" spc="140" dirty="0"/>
              <a:t>:</a:t>
            </a:r>
            <a:r>
              <a:rPr sz="2550" spc="120" dirty="0"/>
              <a:t> </a:t>
            </a:r>
            <a:r>
              <a:rPr sz="2550" spc="110" dirty="0"/>
              <a:t>All</a:t>
            </a:r>
            <a:r>
              <a:rPr sz="2550" spc="130" dirty="0"/>
              <a:t> </a:t>
            </a:r>
            <a:r>
              <a:rPr sz="2550" dirty="0"/>
              <a:t>processing</a:t>
            </a:r>
            <a:r>
              <a:rPr sz="2550" spc="125" dirty="0"/>
              <a:t> </a:t>
            </a:r>
            <a:r>
              <a:rPr sz="2550" dirty="0"/>
              <a:t>happens</a:t>
            </a:r>
            <a:r>
              <a:rPr sz="2550" spc="125" dirty="0"/>
              <a:t> </a:t>
            </a:r>
            <a:r>
              <a:rPr sz="2550" dirty="0"/>
              <a:t>on</a:t>
            </a:r>
            <a:r>
              <a:rPr sz="2550" spc="125" dirty="0"/>
              <a:t> </a:t>
            </a:r>
            <a:r>
              <a:rPr sz="2550" spc="70" dirty="0"/>
              <a:t>worker's</a:t>
            </a:r>
            <a:r>
              <a:rPr sz="2550" spc="125" dirty="0"/>
              <a:t> </a:t>
            </a:r>
            <a:r>
              <a:rPr sz="2550" spc="-10" dirty="0"/>
              <a:t>machine </a:t>
            </a:r>
            <a:r>
              <a:rPr sz="2550" b="1" spc="175" dirty="0">
                <a:latin typeface="Arial Narrow"/>
                <a:cs typeface="Arial Narrow"/>
              </a:rPr>
              <a:t>Docker</a:t>
            </a:r>
            <a:r>
              <a:rPr sz="2550" b="1" spc="155" dirty="0">
                <a:latin typeface="Arial Narrow"/>
                <a:cs typeface="Arial Narrow"/>
              </a:rPr>
              <a:t> </a:t>
            </a:r>
            <a:r>
              <a:rPr sz="2550" b="1" spc="135" dirty="0">
                <a:latin typeface="Arial Narrow"/>
                <a:cs typeface="Arial Narrow"/>
              </a:rPr>
              <a:t>Support</a:t>
            </a:r>
            <a:r>
              <a:rPr sz="2550" spc="135" dirty="0"/>
              <a:t>:</a:t>
            </a:r>
            <a:r>
              <a:rPr sz="2550" spc="65" dirty="0"/>
              <a:t> </a:t>
            </a:r>
            <a:r>
              <a:rPr sz="2550" dirty="0"/>
              <a:t>Easy</a:t>
            </a:r>
            <a:r>
              <a:rPr sz="2550" spc="65" dirty="0"/>
              <a:t> </a:t>
            </a:r>
            <a:r>
              <a:rPr sz="2550" dirty="0"/>
              <a:t>containerized</a:t>
            </a:r>
            <a:r>
              <a:rPr sz="2550" spc="60" dirty="0"/>
              <a:t> </a:t>
            </a:r>
            <a:r>
              <a:rPr sz="2550" spc="35" dirty="0"/>
              <a:t>deployment </a:t>
            </a:r>
            <a:r>
              <a:rPr sz="2550" b="1" spc="114" dirty="0">
                <a:latin typeface="Arial Narrow"/>
                <a:cs typeface="Arial Narrow"/>
              </a:rPr>
              <a:t>Reproducible</a:t>
            </a:r>
            <a:r>
              <a:rPr sz="2550" spc="114" dirty="0"/>
              <a:t>:</a:t>
            </a:r>
            <a:r>
              <a:rPr sz="2550" spc="145" dirty="0"/>
              <a:t> </a:t>
            </a:r>
            <a:r>
              <a:rPr sz="2550" dirty="0"/>
              <a:t>Complete</a:t>
            </a:r>
            <a:r>
              <a:rPr sz="2550" spc="155" dirty="0"/>
              <a:t> </a:t>
            </a:r>
            <a:r>
              <a:rPr sz="2550" dirty="0"/>
              <a:t>source</a:t>
            </a:r>
            <a:r>
              <a:rPr sz="2550" spc="155" dirty="0"/>
              <a:t> </a:t>
            </a:r>
            <a:r>
              <a:rPr sz="2550" dirty="0"/>
              <a:t>code</a:t>
            </a:r>
            <a:r>
              <a:rPr sz="2550" spc="155" dirty="0"/>
              <a:t> </a:t>
            </a:r>
            <a:r>
              <a:rPr sz="2550" dirty="0"/>
              <a:t>audit</a:t>
            </a:r>
            <a:r>
              <a:rPr sz="2550" spc="155" dirty="0"/>
              <a:t> </a:t>
            </a:r>
            <a:r>
              <a:rPr sz="2550" dirty="0"/>
              <a:t>in</a:t>
            </a:r>
            <a:r>
              <a:rPr sz="2550" spc="155" dirty="0"/>
              <a:t> </a:t>
            </a:r>
            <a:r>
              <a:rPr sz="2550" spc="-10" dirty="0"/>
              <a:t>appendix</a:t>
            </a:r>
            <a:endParaRPr sz="2550">
              <a:latin typeface="Arial Narrow"/>
              <a:cs typeface="Arial Narro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09936" y="3264346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09936" y="4157562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09936" y="621484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09936" y="518620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55491" y="3227528"/>
            <a:ext cx="7290165" cy="27622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31490" y="3227528"/>
            <a:ext cx="7290181" cy="27622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5491" y="6500555"/>
            <a:ext cx="7290165" cy="27622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31490" y="6380303"/>
            <a:ext cx="7290181" cy="276224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6545" rIns="0" bIns="0" rtlCol="0">
            <a:spAutoFit/>
          </a:bodyPr>
          <a:lstStyle/>
          <a:p>
            <a:pPr marL="4897755">
              <a:lnSpc>
                <a:spcPct val="100000"/>
              </a:lnSpc>
              <a:spcBef>
                <a:spcPts val="130"/>
              </a:spcBef>
            </a:pPr>
            <a:r>
              <a:rPr spc="525" dirty="0"/>
              <a:t>Key</a:t>
            </a:r>
            <a:r>
              <a:rPr spc="235" dirty="0"/>
              <a:t> </a:t>
            </a:r>
            <a:r>
              <a:rPr spc="495" dirty="0"/>
              <a:t>Achievements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023964" y="4041261"/>
            <a:ext cx="5820410" cy="958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100"/>
              </a:lnSpc>
              <a:spcBef>
                <a:spcPts val="90"/>
              </a:spcBef>
            </a:pPr>
            <a:r>
              <a:rPr sz="2250" b="1" spc="140" dirty="0">
                <a:solidFill>
                  <a:srgbClr val="FFFFFF"/>
                </a:solidFill>
                <a:latin typeface="Arial Narrow"/>
                <a:cs typeface="Arial Narrow"/>
              </a:rPr>
              <a:t>Eliminated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25" dirty="0">
                <a:solidFill>
                  <a:srgbClr val="FFFFFF"/>
                </a:solidFill>
                <a:latin typeface="Arial Narrow"/>
                <a:cs typeface="Arial Narrow"/>
              </a:rPr>
              <a:t>hallucination</a:t>
            </a:r>
            <a:r>
              <a:rPr sz="22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60" dirty="0">
                <a:solidFill>
                  <a:srgbClr val="FFFFFF"/>
                </a:solidFill>
                <a:latin typeface="Arial Narrow"/>
                <a:cs typeface="Arial Narrow"/>
              </a:rPr>
              <a:t>through</a:t>
            </a:r>
            <a:r>
              <a:rPr sz="2250" b="1" spc="254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00" dirty="0">
                <a:solidFill>
                  <a:srgbClr val="FFFFFF"/>
                </a:solidFill>
                <a:latin typeface="Arial Narrow"/>
                <a:cs typeface="Arial Narrow"/>
              </a:rPr>
              <a:t>RAG-</a:t>
            </a:r>
            <a:r>
              <a:rPr sz="2250" b="1" spc="120" dirty="0">
                <a:solidFill>
                  <a:srgbClr val="FFFFFF"/>
                </a:solidFill>
                <a:latin typeface="Arial Narrow"/>
                <a:cs typeface="Arial Narrow"/>
              </a:rPr>
              <a:t>based </a:t>
            </a:r>
            <a:r>
              <a:rPr sz="2250" b="1" spc="114" dirty="0">
                <a:solidFill>
                  <a:srgbClr val="FFFFFF"/>
                </a:solidFill>
                <a:latin typeface="Arial Narrow"/>
                <a:cs typeface="Arial Narrow"/>
              </a:rPr>
              <a:t>grounding</a:t>
            </a:r>
            <a:endParaRPr sz="2250">
              <a:latin typeface="Arial Narrow"/>
              <a:cs typeface="Arial Narro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376530" y="4041261"/>
            <a:ext cx="5797550" cy="958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100"/>
              </a:lnSpc>
              <a:spcBef>
                <a:spcPts val="90"/>
              </a:spcBef>
            </a:pPr>
            <a:r>
              <a:rPr sz="2250" b="1" spc="145" dirty="0">
                <a:solidFill>
                  <a:srgbClr val="FFFFFF"/>
                </a:solidFill>
                <a:latin typeface="Arial Narrow"/>
                <a:cs typeface="Arial Narrow"/>
              </a:rPr>
              <a:t>Achieved</a:t>
            </a:r>
            <a:r>
              <a:rPr sz="22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55" dirty="0">
                <a:solidFill>
                  <a:srgbClr val="FFFFFF"/>
                </a:solidFill>
                <a:latin typeface="Arial Narrow"/>
                <a:cs typeface="Arial Narrow"/>
              </a:rPr>
              <a:t>semantic</a:t>
            </a:r>
            <a:r>
              <a:rPr sz="22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85" dirty="0">
                <a:solidFill>
                  <a:srgbClr val="FFFFFF"/>
                </a:solidFill>
                <a:latin typeface="Arial Narrow"/>
                <a:cs typeface="Arial Narrow"/>
              </a:rPr>
              <a:t>exact</a:t>
            </a:r>
            <a:r>
              <a:rPr sz="22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45" dirty="0">
                <a:solidFill>
                  <a:srgbClr val="FFFFFF"/>
                </a:solidFill>
                <a:latin typeface="Arial Narrow"/>
                <a:cs typeface="Arial Narrow"/>
              </a:rPr>
              <a:t>search</a:t>
            </a:r>
            <a:r>
              <a:rPr sz="22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40" dirty="0">
                <a:solidFill>
                  <a:srgbClr val="FFFFFF"/>
                </a:solidFill>
                <a:latin typeface="Arial Narrow"/>
                <a:cs typeface="Arial Narrow"/>
              </a:rPr>
              <a:t>accuracy </a:t>
            </a:r>
            <a:r>
              <a:rPr sz="2250" b="1" spc="200" dirty="0">
                <a:solidFill>
                  <a:srgbClr val="FFFFFF"/>
                </a:solidFill>
                <a:latin typeface="Arial Narrow"/>
                <a:cs typeface="Arial Narrow"/>
              </a:rPr>
              <a:t>with</a:t>
            </a:r>
            <a:r>
              <a:rPr sz="2250" b="1" spc="2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45" dirty="0">
                <a:solidFill>
                  <a:srgbClr val="FFFFFF"/>
                </a:solidFill>
                <a:latin typeface="Arial Narrow"/>
                <a:cs typeface="Arial Narrow"/>
              </a:rPr>
              <a:t>hybrid</a:t>
            </a:r>
            <a:r>
              <a:rPr sz="22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30" dirty="0">
                <a:solidFill>
                  <a:srgbClr val="FFFFFF"/>
                </a:solidFill>
                <a:latin typeface="Arial Narrow"/>
                <a:cs typeface="Arial Narrow"/>
              </a:rPr>
              <a:t>approach</a:t>
            </a:r>
            <a:endParaRPr sz="2250">
              <a:latin typeface="Arial Narrow"/>
              <a:cs typeface="Arial Narro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23964" y="7449656"/>
            <a:ext cx="5276215" cy="958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100"/>
              </a:lnSpc>
              <a:spcBef>
                <a:spcPts val="90"/>
              </a:spcBef>
            </a:pPr>
            <a:r>
              <a:rPr sz="2250" b="1" spc="120" dirty="0">
                <a:solidFill>
                  <a:srgbClr val="FFFFFF"/>
                </a:solidFill>
                <a:latin typeface="Arial Narrow"/>
                <a:cs typeface="Arial Narrow"/>
              </a:rPr>
              <a:t>Built</a:t>
            </a:r>
            <a:r>
              <a:rPr sz="2250" b="1" spc="22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60" dirty="0">
                <a:solidFill>
                  <a:srgbClr val="FFFFFF"/>
                </a:solidFill>
                <a:latin typeface="Arial Narrow"/>
                <a:cs typeface="Arial Narrow"/>
              </a:rPr>
              <a:t>neuro-</a:t>
            </a:r>
            <a:r>
              <a:rPr sz="2250" b="1" spc="165" dirty="0">
                <a:solidFill>
                  <a:srgbClr val="FFFFFF"/>
                </a:solidFill>
                <a:latin typeface="Arial Narrow"/>
                <a:cs typeface="Arial Narrow"/>
              </a:rPr>
              <a:t>symbolic</a:t>
            </a:r>
            <a:r>
              <a:rPr sz="2250" b="1" spc="2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220" dirty="0">
                <a:solidFill>
                  <a:srgbClr val="FFFFFF"/>
                </a:solidFill>
                <a:latin typeface="Arial Narrow"/>
                <a:cs typeface="Arial Narrow"/>
              </a:rPr>
              <a:t>system</a:t>
            </a:r>
            <a:r>
              <a:rPr sz="2250" b="1" spc="23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10" dirty="0">
                <a:solidFill>
                  <a:srgbClr val="FFFFFF"/>
                </a:solidFill>
                <a:latin typeface="Arial Narrow"/>
                <a:cs typeface="Arial Narrow"/>
              </a:rPr>
              <a:t>combining </a:t>
            </a:r>
            <a:r>
              <a:rPr sz="2250" b="1" spc="160" dirty="0">
                <a:solidFill>
                  <a:srgbClr val="FFFFFF"/>
                </a:solidFill>
                <a:latin typeface="Arial Narrow"/>
                <a:cs typeface="Arial Narrow"/>
              </a:rPr>
              <a:t>neural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dirty="0">
                <a:solidFill>
                  <a:srgbClr val="FFFFFF"/>
                </a:solidFill>
                <a:latin typeface="Arial Narrow"/>
                <a:cs typeface="Arial Narrow"/>
              </a:rPr>
              <a:t>+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80" dirty="0">
                <a:solidFill>
                  <a:srgbClr val="FFFFFF"/>
                </a:solidFill>
                <a:latin typeface="Arial Narrow"/>
                <a:cs typeface="Arial Narrow"/>
              </a:rPr>
              <a:t>rule-</a:t>
            </a:r>
            <a:r>
              <a:rPr sz="2250" b="1" spc="140" dirty="0">
                <a:solidFill>
                  <a:srgbClr val="FFFFFF"/>
                </a:solidFill>
                <a:latin typeface="Arial Narrow"/>
                <a:cs typeface="Arial Narrow"/>
              </a:rPr>
              <a:t>based</a:t>
            </a:r>
            <a:r>
              <a:rPr sz="2250" b="1" spc="24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20" dirty="0">
                <a:solidFill>
                  <a:srgbClr val="FFFFFF"/>
                </a:solidFill>
                <a:latin typeface="Arial Narrow"/>
                <a:cs typeface="Arial Narrow"/>
              </a:rPr>
              <a:t>reasoning</a:t>
            </a:r>
            <a:endParaRPr sz="2250">
              <a:latin typeface="Arial Narrow"/>
              <a:cs typeface="Arial Narro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76530" y="7307925"/>
            <a:ext cx="4756150" cy="958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36100"/>
              </a:lnSpc>
              <a:spcBef>
                <a:spcPts val="90"/>
              </a:spcBef>
            </a:pPr>
            <a:r>
              <a:rPr sz="2250" b="1" spc="135" dirty="0">
                <a:solidFill>
                  <a:srgbClr val="FFFFFF"/>
                </a:solidFill>
                <a:latin typeface="Arial Narrow"/>
                <a:cs typeface="Arial Narrow"/>
              </a:rPr>
              <a:t>Ensured</a:t>
            </a:r>
            <a:r>
              <a:rPr sz="2250" b="1" spc="229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45" dirty="0">
                <a:solidFill>
                  <a:srgbClr val="FFFFFF"/>
                </a:solidFill>
                <a:latin typeface="Arial Narrow"/>
                <a:cs typeface="Arial Narrow"/>
              </a:rPr>
              <a:t>compliance</a:t>
            </a:r>
            <a:r>
              <a:rPr sz="2250" b="1" spc="24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200" dirty="0">
                <a:solidFill>
                  <a:srgbClr val="FFFFFF"/>
                </a:solidFill>
                <a:latin typeface="Arial Narrow"/>
                <a:cs typeface="Arial Narrow"/>
              </a:rPr>
              <a:t>with</a:t>
            </a:r>
            <a:r>
              <a:rPr sz="2250" b="1" spc="24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60" dirty="0">
                <a:solidFill>
                  <a:srgbClr val="FFFFFF"/>
                </a:solidFill>
                <a:latin typeface="Arial Narrow"/>
                <a:cs typeface="Arial Narrow"/>
              </a:rPr>
              <a:t>local-</a:t>
            </a:r>
            <a:r>
              <a:rPr sz="2250" b="1" spc="165" dirty="0">
                <a:solidFill>
                  <a:srgbClr val="FFFFFF"/>
                </a:solidFill>
                <a:latin typeface="Arial Narrow"/>
                <a:cs typeface="Arial Narrow"/>
              </a:rPr>
              <a:t>only </a:t>
            </a:r>
            <a:r>
              <a:rPr sz="2250" b="1" spc="190" dirty="0">
                <a:solidFill>
                  <a:srgbClr val="FFFFFF"/>
                </a:solidFill>
                <a:latin typeface="Arial Narrow"/>
                <a:cs typeface="Arial Narrow"/>
              </a:rPr>
              <a:t>deployment</a:t>
            </a:r>
            <a:r>
              <a:rPr sz="2250" b="1" spc="265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250" b="1" spc="175" dirty="0">
                <a:solidFill>
                  <a:srgbClr val="FFFFFF"/>
                </a:solidFill>
                <a:latin typeface="Arial Narrow"/>
                <a:cs typeface="Arial Narrow"/>
              </a:rPr>
              <a:t>model</a:t>
            </a:r>
            <a:endParaRPr sz="2250">
              <a:latin typeface="Arial Narrow"/>
              <a:cs typeface="Arial Narrow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4687" y="0"/>
            <a:ext cx="2883309" cy="6235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6" y="7395832"/>
            <a:ext cx="5483509" cy="28911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2750">
              <a:lnSpc>
                <a:spcPct val="100000"/>
              </a:lnSpc>
              <a:spcBef>
                <a:spcPts val="105"/>
              </a:spcBef>
            </a:pPr>
            <a:r>
              <a:rPr sz="5000" spc="375" dirty="0"/>
              <a:t>Real-</a:t>
            </a:r>
            <a:r>
              <a:rPr sz="5000" spc="650" dirty="0"/>
              <a:t>world</a:t>
            </a:r>
            <a:r>
              <a:rPr sz="5000" spc="300" dirty="0"/>
              <a:t> </a:t>
            </a:r>
            <a:r>
              <a:rPr sz="5000" spc="675" dirty="0"/>
              <a:t>Impact</a:t>
            </a:r>
            <a:endParaRPr sz="500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58" rIns="0" bIns="0" rtlCol="0">
            <a:spAutoFit/>
          </a:bodyPr>
          <a:lstStyle/>
          <a:p>
            <a:pPr marL="6223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Workers</a:t>
            </a:r>
            <a:r>
              <a:rPr spc="85" dirty="0"/>
              <a:t> </a:t>
            </a:r>
            <a:r>
              <a:rPr dirty="0"/>
              <a:t>can</a:t>
            </a:r>
            <a:r>
              <a:rPr spc="90" dirty="0"/>
              <a:t> </a:t>
            </a:r>
            <a:r>
              <a:rPr dirty="0"/>
              <a:t>ask</a:t>
            </a:r>
            <a:r>
              <a:rPr spc="95" dirty="0"/>
              <a:t> </a:t>
            </a:r>
            <a:r>
              <a:rPr dirty="0"/>
              <a:t>questions</a:t>
            </a:r>
            <a:r>
              <a:rPr spc="95" dirty="0"/>
              <a:t> </a:t>
            </a:r>
            <a:r>
              <a:rPr dirty="0"/>
              <a:t>in</a:t>
            </a:r>
            <a:r>
              <a:rPr spc="90" dirty="0"/>
              <a:t> </a:t>
            </a:r>
            <a:r>
              <a:rPr spc="45" dirty="0"/>
              <a:t>natural</a:t>
            </a:r>
            <a:r>
              <a:rPr spc="95" dirty="0"/>
              <a:t> </a:t>
            </a:r>
            <a:r>
              <a:rPr spc="-10" dirty="0"/>
              <a:t>language</a:t>
            </a:r>
          </a:p>
          <a:p>
            <a:pPr marL="62230" marR="5080">
              <a:lnSpc>
                <a:spcPct val="265300"/>
              </a:lnSpc>
            </a:pPr>
            <a:r>
              <a:rPr spc="-50" dirty="0"/>
              <a:t>Gives</a:t>
            </a:r>
            <a:r>
              <a:rPr spc="225" dirty="0"/>
              <a:t> </a:t>
            </a:r>
            <a:r>
              <a:rPr dirty="0"/>
              <a:t>verified</a:t>
            </a:r>
            <a:r>
              <a:rPr spc="229" dirty="0"/>
              <a:t> </a:t>
            </a:r>
            <a:r>
              <a:rPr dirty="0"/>
              <a:t>answers</a:t>
            </a:r>
            <a:r>
              <a:rPr spc="225" dirty="0"/>
              <a:t> </a:t>
            </a:r>
            <a:r>
              <a:rPr spc="70" dirty="0"/>
              <a:t>with</a:t>
            </a:r>
            <a:r>
              <a:rPr spc="229" dirty="0"/>
              <a:t> </a:t>
            </a:r>
            <a:r>
              <a:rPr dirty="0"/>
              <a:t>citations</a:t>
            </a:r>
            <a:r>
              <a:rPr spc="225" dirty="0"/>
              <a:t> </a:t>
            </a:r>
            <a:r>
              <a:rPr spc="135" dirty="0"/>
              <a:t>to</a:t>
            </a:r>
            <a:r>
              <a:rPr spc="229" dirty="0"/>
              <a:t> </a:t>
            </a:r>
            <a:r>
              <a:rPr dirty="0"/>
              <a:t>actual</a:t>
            </a:r>
            <a:r>
              <a:rPr spc="225" dirty="0"/>
              <a:t> </a:t>
            </a:r>
            <a:r>
              <a:rPr spc="-10" dirty="0"/>
              <a:t>regulations </a:t>
            </a:r>
            <a:r>
              <a:rPr spc="-50" dirty="0"/>
              <a:t>Reduces</a:t>
            </a:r>
            <a:r>
              <a:rPr spc="100" dirty="0"/>
              <a:t> </a:t>
            </a:r>
            <a:r>
              <a:rPr dirty="0"/>
              <a:t>unsafe</a:t>
            </a:r>
            <a:r>
              <a:rPr spc="114" dirty="0"/>
              <a:t> </a:t>
            </a:r>
            <a:r>
              <a:rPr spc="70" dirty="0"/>
              <a:t>shortcuts</a:t>
            </a:r>
            <a:r>
              <a:rPr spc="110" dirty="0"/>
              <a:t> </a:t>
            </a:r>
            <a:r>
              <a:rPr dirty="0"/>
              <a:t>due</a:t>
            </a:r>
            <a:r>
              <a:rPr spc="110" dirty="0"/>
              <a:t> </a:t>
            </a:r>
            <a:r>
              <a:rPr spc="135" dirty="0"/>
              <a:t>to</a:t>
            </a:r>
            <a:r>
              <a:rPr spc="114" dirty="0"/>
              <a:t> </a:t>
            </a:r>
            <a:r>
              <a:rPr dirty="0"/>
              <a:t>unclear</a:t>
            </a:r>
            <a:r>
              <a:rPr spc="114" dirty="0"/>
              <a:t> </a:t>
            </a:r>
            <a:r>
              <a:rPr spc="-10" dirty="0"/>
              <a:t>documentation </a:t>
            </a:r>
            <a:r>
              <a:rPr dirty="0"/>
              <a:t>Supports</a:t>
            </a:r>
            <a:r>
              <a:rPr spc="180" dirty="0"/>
              <a:t> </a:t>
            </a:r>
            <a:r>
              <a:rPr dirty="0"/>
              <a:t>compliance</a:t>
            </a:r>
            <a:r>
              <a:rPr spc="180" dirty="0"/>
              <a:t> </a:t>
            </a:r>
            <a:r>
              <a:rPr spc="70" dirty="0"/>
              <a:t>with</a:t>
            </a:r>
            <a:r>
              <a:rPr spc="180" dirty="0"/>
              <a:t> </a:t>
            </a:r>
            <a:r>
              <a:rPr dirty="0"/>
              <a:t>Italian</a:t>
            </a:r>
            <a:r>
              <a:rPr spc="180" dirty="0"/>
              <a:t> </a:t>
            </a:r>
            <a:r>
              <a:rPr dirty="0"/>
              <a:t>occupational</a:t>
            </a:r>
            <a:r>
              <a:rPr spc="175" dirty="0"/>
              <a:t> </a:t>
            </a:r>
            <a:r>
              <a:rPr spc="80" dirty="0"/>
              <a:t>safety</a:t>
            </a:r>
            <a:r>
              <a:rPr spc="180" dirty="0"/>
              <a:t> </a:t>
            </a:r>
            <a:r>
              <a:rPr spc="55" dirty="0"/>
              <a:t>law</a:t>
            </a:r>
          </a:p>
        </p:txBody>
      </p:sp>
      <p:sp>
        <p:nvSpPr>
          <p:cNvPr id="6" name="object 6"/>
          <p:cNvSpPr/>
          <p:nvPr/>
        </p:nvSpPr>
        <p:spPr>
          <a:xfrm>
            <a:off x="2009936" y="325242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009936" y="427353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009936" y="6222217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009936" y="520311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8" y="296971"/>
                </a:lnTo>
                <a:lnTo>
                  <a:pt x="62381" y="275341"/>
                </a:lnTo>
                <a:lnTo>
                  <a:pt x="29398" y="242358"/>
                </a:lnTo>
                <a:lnTo>
                  <a:pt x="7767" y="200531"/>
                </a:lnTo>
                <a:lnTo>
                  <a:pt x="0" y="152369"/>
                </a:lnTo>
                <a:lnTo>
                  <a:pt x="7767" y="104207"/>
                </a:lnTo>
                <a:lnTo>
                  <a:pt x="29398" y="62380"/>
                </a:lnTo>
                <a:lnTo>
                  <a:pt x="62381" y="29397"/>
                </a:lnTo>
                <a:lnTo>
                  <a:pt x="104208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31"/>
                </a:lnTo>
                <a:lnTo>
                  <a:pt x="275342" y="242358"/>
                </a:lnTo>
                <a:lnTo>
                  <a:pt x="242358" y="275341"/>
                </a:lnTo>
                <a:lnTo>
                  <a:pt x="200530" y="296971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97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445" dirty="0"/>
              <a:t>Future</a:t>
            </a:r>
            <a:r>
              <a:rPr spc="250" dirty="0"/>
              <a:t> </a:t>
            </a:r>
            <a:r>
              <a:rPr spc="500" dirty="0"/>
              <a:t>Implementation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20605" y="1833374"/>
            <a:ext cx="10967394" cy="84536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174578" y="3192580"/>
            <a:ext cx="11707495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100"/>
              </a:lnSpc>
              <a:spcBef>
                <a:spcPts val="100"/>
              </a:spcBef>
            </a:pPr>
            <a:r>
              <a:rPr sz="2750" b="1" spc="215" dirty="0">
                <a:solidFill>
                  <a:srgbClr val="FFFFFF"/>
                </a:solidFill>
                <a:latin typeface="Arial Narrow"/>
                <a:cs typeface="Arial Narrow"/>
              </a:rPr>
              <a:t>Multimodal</a:t>
            </a:r>
            <a:r>
              <a:rPr sz="2750" b="1" spc="22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750" b="1" spc="50" dirty="0">
                <a:solidFill>
                  <a:srgbClr val="FFFFFF"/>
                </a:solidFill>
                <a:latin typeface="Arial Narrow"/>
                <a:cs typeface="Arial Narrow"/>
              </a:rPr>
              <a:t>RAG</a:t>
            </a:r>
            <a:r>
              <a:rPr sz="27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Vision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module</a:t>
            </a:r>
            <a:r>
              <a:rPr sz="2750" spc="1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analyzing</a:t>
            </a:r>
            <a:r>
              <a:rPr sz="2750" spc="1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safety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signs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and</a:t>
            </a:r>
            <a:r>
              <a:rPr sz="2750" spc="12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equipment photos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3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750" b="1" spc="160" dirty="0">
                <a:solidFill>
                  <a:srgbClr val="FFFFFF"/>
                </a:solidFill>
                <a:latin typeface="Arial Narrow"/>
                <a:cs typeface="Arial Narrow"/>
              </a:rPr>
              <a:t>Voice</a:t>
            </a:r>
            <a:r>
              <a:rPr sz="2750" b="1" spc="254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750" b="1" spc="165" dirty="0">
                <a:solidFill>
                  <a:srgbClr val="FFFFFF"/>
                </a:solidFill>
                <a:latin typeface="Arial Narrow"/>
                <a:cs typeface="Arial Narrow"/>
              </a:rPr>
              <a:t>Interface:</a:t>
            </a:r>
            <a:r>
              <a:rPr sz="2750" b="1" spc="250" dirty="0">
                <a:solidFill>
                  <a:srgbClr val="FFFFFF"/>
                </a:solidFill>
                <a:latin typeface="Arial Narrow"/>
                <a:cs typeface="Arial Narrow"/>
              </a:rPr>
              <a:t> </a:t>
            </a:r>
            <a:r>
              <a:rPr sz="2750" spc="-65" dirty="0">
                <a:solidFill>
                  <a:srgbClr val="FFFFFF"/>
                </a:solidFill>
                <a:latin typeface="Microsoft Sans Serif"/>
                <a:cs typeface="Microsoft Sans Serif"/>
              </a:rPr>
              <a:t>Hands-</a:t>
            </a:r>
            <a:r>
              <a:rPr sz="2750" spc="95" dirty="0">
                <a:solidFill>
                  <a:srgbClr val="FFFFFF"/>
                </a:solidFill>
                <a:latin typeface="Microsoft Sans Serif"/>
                <a:cs typeface="Microsoft Sans Serif"/>
              </a:rPr>
              <a:t>free</a:t>
            </a:r>
            <a:r>
              <a:rPr sz="27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audio</a:t>
            </a:r>
            <a:r>
              <a:rPr sz="27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75" dirty="0">
                <a:solidFill>
                  <a:srgbClr val="FFFFFF"/>
                </a:solidFill>
                <a:latin typeface="Microsoft Sans Serif"/>
                <a:cs typeface="Microsoft Sans Serif"/>
              </a:rPr>
              <a:t>input/output</a:t>
            </a:r>
            <a:r>
              <a:rPr sz="27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for</a:t>
            </a:r>
            <a:r>
              <a:rPr sz="27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construction</a:t>
            </a:r>
            <a:r>
              <a:rPr sz="2750" spc="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sites</a:t>
            </a:r>
            <a:endParaRPr sz="275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35"/>
              </a:spcBef>
            </a:pPr>
            <a:endParaRPr sz="27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750" b="1" spc="145" dirty="0">
                <a:solidFill>
                  <a:srgbClr val="FFFFFF"/>
                </a:solidFill>
                <a:latin typeface="Arial Narrow"/>
                <a:cs typeface="Arial Narrow"/>
              </a:rPr>
              <a:t>Scalability</a:t>
            </a:r>
            <a:r>
              <a:rPr sz="2750" spc="145" dirty="0">
                <a:solidFill>
                  <a:srgbClr val="FFFFFF"/>
                </a:solidFill>
                <a:latin typeface="Microsoft Sans Serif"/>
                <a:cs typeface="Microsoft Sans Serif"/>
              </a:rPr>
              <a:t>: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Support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100" dirty="0">
                <a:solidFill>
                  <a:srgbClr val="FFFFFF"/>
                </a:solidFill>
                <a:latin typeface="Microsoft Sans Serif"/>
                <a:cs typeface="Microsoft Sans Serif"/>
              </a:rPr>
              <a:t>3,000+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dirty="0">
                <a:solidFill>
                  <a:srgbClr val="FFFFFF"/>
                </a:solidFill>
                <a:latin typeface="Microsoft Sans Serif"/>
                <a:cs typeface="Microsoft Sans Serif"/>
              </a:rPr>
              <a:t>manuals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85" dirty="0">
                <a:solidFill>
                  <a:srgbClr val="FFFFFF"/>
                </a:solidFill>
                <a:latin typeface="Microsoft Sans Serif"/>
                <a:cs typeface="Microsoft Sans Serif"/>
              </a:rPr>
              <a:t>without</a:t>
            </a:r>
            <a:r>
              <a:rPr sz="2750" spc="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performance</a:t>
            </a:r>
            <a:r>
              <a:rPr sz="2750" spc="21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75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degradation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09667" y="3399473"/>
            <a:ext cx="304800" cy="300990"/>
          </a:xfrm>
          <a:custGeom>
            <a:avLst/>
            <a:gdLst/>
            <a:ahLst/>
            <a:cxnLst/>
            <a:rect l="l" t="t" r="r" b="b"/>
            <a:pathLst>
              <a:path w="304800" h="300989">
                <a:moveTo>
                  <a:pt x="152368" y="300989"/>
                </a:moveTo>
                <a:lnTo>
                  <a:pt x="104208" y="293310"/>
                </a:lnTo>
                <a:lnTo>
                  <a:pt x="62382" y="271950"/>
                </a:lnTo>
                <a:lnTo>
                  <a:pt x="29398" y="239377"/>
                </a:lnTo>
                <a:lnTo>
                  <a:pt x="7767" y="198068"/>
                </a:lnTo>
                <a:lnTo>
                  <a:pt x="0" y="150501"/>
                </a:lnTo>
                <a:lnTo>
                  <a:pt x="7767" y="102930"/>
                </a:lnTo>
                <a:lnTo>
                  <a:pt x="29398" y="61614"/>
                </a:lnTo>
                <a:lnTo>
                  <a:pt x="62382" y="29032"/>
                </a:lnTo>
                <a:lnTo>
                  <a:pt x="104208" y="7664"/>
                </a:lnTo>
                <a:lnTo>
                  <a:pt x="152368" y="0"/>
                </a:lnTo>
                <a:lnTo>
                  <a:pt x="200529" y="7664"/>
                </a:lnTo>
                <a:lnTo>
                  <a:pt x="242357" y="29032"/>
                </a:lnTo>
                <a:lnTo>
                  <a:pt x="275341" y="61614"/>
                </a:lnTo>
                <a:lnTo>
                  <a:pt x="296973" y="102930"/>
                </a:lnTo>
                <a:lnTo>
                  <a:pt x="304516" y="149123"/>
                </a:lnTo>
                <a:lnTo>
                  <a:pt x="304516" y="151878"/>
                </a:lnTo>
                <a:lnTo>
                  <a:pt x="296973" y="198068"/>
                </a:lnTo>
                <a:lnTo>
                  <a:pt x="275341" y="239377"/>
                </a:lnTo>
                <a:lnTo>
                  <a:pt x="242357" y="271950"/>
                </a:lnTo>
                <a:lnTo>
                  <a:pt x="200529" y="293310"/>
                </a:lnTo>
                <a:lnTo>
                  <a:pt x="152368" y="30098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09667" y="5111099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69"/>
                </a:moveTo>
                <a:lnTo>
                  <a:pt x="104209" y="296998"/>
                </a:lnTo>
                <a:lnTo>
                  <a:pt x="62383" y="275361"/>
                </a:lnTo>
                <a:lnTo>
                  <a:pt x="29399" y="242369"/>
                </a:lnTo>
                <a:lnTo>
                  <a:pt x="7768" y="200534"/>
                </a:lnTo>
                <a:lnTo>
                  <a:pt x="0" y="152369"/>
                </a:lnTo>
                <a:lnTo>
                  <a:pt x="7768" y="104219"/>
                </a:lnTo>
                <a:lnTo>
                  <a:pt x="29399" y="62393"/>
                </a:lnTo>
                <a:lnTo>
                  <a:pt x="62383" y="29406"/>
                </a:lnTo>
                <a:lnTo>
                  <a:pt x="104209" y="7770"/>
                </a:lnTo>
                <a:lnTo>
                  <a:pt x="152369" y="0"/>
                </a:lnTo>
                <a:lnTo>
                  <a:pt x="200530" y="7770"/>
                </a:lnTo>
                <a:lnTo>
                  <a:pt x="242358" y="29406"/>
                </a:lnTo>
                <a:lnTo>
                  <a:pt x="275342" y="62393"/>
                </a:lnTo>
                <a:lnTo>
                  <a:pt x="296973" y="104219"/>
                </a:lnTo>
                <a:lnTo>
                  <a:pt x="304742" y="152369"/>
                </a:lnTo>
                <a:lnTo>
                  <a:pt x="296973" y="200534"/>
                </a:lnTo>
                <a:lnTo>
                  <a:pt x="275342" y="242369"/>
                </a:lnTo>
                <a:lnTo>
                  <a:pt x="242358" y="275361"/>
                </a:lnTo>
                <a:lnTo>
                  <a:pt x="200530" y="296998"/>
                </a:lnTo>
                <a:lnTo>
                  <a:pt x="152369" y="304769"/>
                </a:lnTo>
                <a:close/>
              </a:path>
            </a:pathLst>
          </a:custGeom>
          <a:solidFill>
            <a:srgbClr val="E26E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609667" y="624355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369" y="304739"/>
                </a:moveTo>
                <a:lnTo>
                  <a:pt x="104209" y="296968"/>
                </a:lnTo>
                <a:lnTo>
                  <a:pt x="62383" y="275332"/>
                </a:lnTo>
                <a:lnTo>
                  <a:pt x="29399" y="242345"/>
                </a:lnTo>
                <a:lnTo>
                  <a:pt x="7768" y="200519"/>
                </a:lnTo>
                <a:lnTo>
                  <a:pt x="0" y="152369"/>
                </a:lnTo>
                <a:lnTo>
                  <a:pt x="7768" y="104207"/>
                </a:lnTo>
                <a:lnTo>
                  <a:pt x="29399" y="62380"/>
                </a:lnTo>
                <a:lnTo>
                  <a:pt x="62383" y="29397"/>
                </a:lnTo>
                <a:lnTo>
                  <a:pt x="104209" y="7767"/>
                </a:lnTo>
                <a:lnTo>
                  <a:pt x="152369" y="0"/>
                </a:lnTo>
                <a:lnTo>
                  <a:pt x="200530" y="7767"/>
                </a:lnTo>
                <a:lnTo>
                  <a:pt x="242358" y="29397"/>
                </a:lnTo>
                <a:lnTo>
                  <a:pt x="275342" y="62380"/>
                </a:lnTo>
                <a:lnTo>
                  <a:pt x="296973" y="104207"/>
                </a:lnTo>
                <a:lnTo>
                  <a:pt x="304742" y="152369"/>
                </a:lnTo>
                <a:lnTo>
                  <a:pt x="296973" y="200519"/>
                </a:lnTo>
                <a:lnTo>
                  <a:pt x="275342" y="242345"/>
                </a:lnTo>
                <a:lnTo>
                  <a:pt x="242358" y="275332"/>
                </a:lnTo>
                <a:lnTo>
                  <a:pt x="200530" y="296968"/>
                </a:lnTo>
                <a:lnTo>
                  <a:pt x="152369" y="304739"/>
                </a:lnTo>
                <a:close/>
              </a:path>
            </a:pathLst>
          </a:custGeom>
          <a:solidFill>
            <a:srgbClr val="2EDDD3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0062" y="-3481"/>
            <a:ext cx="5121421" cy="656439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3480" y="5807264"/>
            <a:ext cx="4644048" cy="44832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927725" y="2291846"/>
            <a:ext cx="9263380" cy="18453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941955" marR="5080" indent="-2929890">
              <a:lnSpc>
                <a:spcPts val="7050"/>
              </a:lnSpc>
              <a:spcBef>
                <a:spcPts val="425"/>
              </a:spcBef>
            </a:pPr>
            <a:r>
              <a:rPr sz="6050" spc="440" dirty="0"/>
              <a:t>RESPONSIBLE</a:t>
            </a:r>
            <a:r>
              <a:rPr sz="6050" spc="335" dirty="0"/>
              <a:t> </a:t>
            </a:r>
            <a:r>
              <a:rPr sz="6050" spc="655" dirty="0"/>
              <a:t>AI</a:t>
            </a:r>
            <a:r>
              <a:rPr sz="6050" spc="340" dirty="0"/>
              <a:t> </a:t>
            </a:r>
            <a:r>
              <a:rPr sz="6050" spc="290" dirty="0"/>
              <a:t>FOR </a:t>
            </a:r>
            <a:r>
              <a:rPr sz="6050" spc="475" dirty="0"/>
              <a:t>SAFETY</a:t>
            </a:r>
            <a:endParaRPr sz="6050"/>
          </a:p>
        </p:txBody>
      </p:sp>
      <p:sp>
        <p:nvSpPr>
          <p:cNvPr id="5" name="object 5"/>
          <p:cNvSpPr txBox="1"/>
          <p:nvPr/>
        </p:nvSpPr>
        <p:spPr>
          <a:xfrm>
            <a:off x="4038158" y="4990565"/>
            <a:ext cx="9042400" cy="99949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2713990" marR="5080" indent="-2701925">
              <a:lnSpc>
                <a:spcPts val="3750"/>
              </a:lnSpc>
              <a:spcBef>
                <a:spcPts val="360"/>
              </a:spcBef>
            </a:pPr>
            <a:r>
              <a:rPr sz="3250" spc="305" dirty="0">
                <a:solidFill>
                  <a:srgbClr val="FFFFFF"/>
                </a:solidFill>
                <a:latin typeface="Arial"/>
                <a:cs typeface="Arial"/>
              </a:rPr>
              <a:t>LLMS</a:t>
            </a:r>
            <a:r>
              <a:rPr sz="3250" spc="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45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40" dirty="0">
                <a:solidFill>
                  <a:srgbClr val="FFFFFF"/>
                </a:solidFill>
                <a:latin typeface="Arial"/>
                <a:cs typeface="Arial"/>
              </a:rPr>
              <a:t>RAG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45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90" dirty="0">
                <a:solidFill>
                  <a:srgbClr val="FFFFFF"/>
                </a:solidFill>
                <a:latin typeface="Arial"/>
                <a:cs typeface="Arial"/>
              </a:rPr>
              <a:t>INTELLIGENT,</a:t>
            </a:r>
            <a:r>
              <a:rPr sz="3250" spc="1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50" spc="225" dirty="0">
                <a:solidFill>
                  <a:srgbClr val="FFFFFF"/>
                </a:solidFill>
                <a:latin typeface="Arial"/>
                <a:cs typeface="Arial"/>
              </a:rPr>
              <a:t>VERIFIED, </a:t>
            </a:r>
            <a:r>
              <a:rPr sz="3250" spc="260" dirty="0">
                <a:solidFill>
                  <a:srgbClr val="FFFFFF"/>
                </a:solidFill>
                <a:latin typeface="Arial"/>
                <a:cs typeface="Arial"/>
              </a:rPr>
              <a:t>TRUSTWORTHY</a:t>
            </a:r>
            <a:endParaRPr sz="32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78834" y="7282946"/>
            <a:ext cx="10561320" cy="3098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850" spc="140" dirty="0">
                <a:solidFill>
                  <a:srgbClr val="FFFFFF"/>
                </a:solidFill>
                <a:latin typeface="Arial"/>
                <a:cs typeface="Arial"/>
              </a:rPr>
              <a:t>PROTECTING</a:t>
            </a:r>
            <a:r>
              <a:rPr sz="1850" spc="125" dirty="0">
                <a:solidFill>
                  <a:srgbClr val="FFFFFF"/>
                </a:solidFill>
                <a:latin typeface="Arial"/>
                <a:cs typeface="Arial"/>
              </a:rPr>
              <a:t> WORKERS</a:t>
            </a:r>
            <a:r>
              <a:rPr sz="185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160" dirty="0">
                <a:solidFill>
                  <a:srgbClr val="FFFFFF"/>
                </a:solidFill>
                <a:latin typeface="Arial"/>
                <a:cs typeface="Arial"/>
              </a:rPr>
              <a:t>THROUGH</a:t>
            </a:r>
            <a:r>
              <a:rPr sz="1850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135" dirty="0">
                <a:solidFill>
                  <a:srgbClr val="FFFFFF"/>
                </a:solidFill>
                <a:latin typeface="Arial"/>
                <a:cs typeface="Arial"/>
              </a:rPr>
              <a:t>ACCESSIBLE,</a:t>
            </a:r>
            <a:r>
              <a:rPr sz="185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150" dirty="0">
                <a:solidFill>
                  <a:srgbClr val="FFFFFF"/>
                </a:solidFill>
                <a:latin typeface="Arial"/>
                <a:cs typeface="Arial"/>
              </a:rPr>
              <a:t>ACCURATE</a:t>
            </a:r>
            <a:r>
              <a:rPr sz="185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150" dirty="0">
                <a:solidFill>
                  <a:srgbClr val="FFFFFF"/>
                </a:solidFill>
                <a:latin typeface="Arial"/>
                <a:cs typeface="Arial"/>
              </a:rPr>
              <a:t>SAFETY</a:t>
            </a:r>
            <a:r>
              <a:rPr sz="1850" spc="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50" spc="140" dirty="0">
                <a:solidFill>
                  <a:srgbClr val="FFFFFF"/>
                </a:solidFill>
                <a:latin typeface="Arial"/>
                <a:cs typeface="Arial"/>
              </a:rPr>
              <a:t>GUIDANCE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60797" y="4617958"/>
            <a:ext cx="5499100" cy="94996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6050" spc="720" dirty="0"/>
              <a:t>THANK</a:t>
            </a:r>
            <a:r>
              <a:rPr sz="6050" spc="345" dirty="0"/>
              <a:t> </a:t>
            </a:r>
            <a:r>
              <a:rPr sz="6050" spc="465" dirty="0"/>
              <a:t>YOU!</a:t>
            </a:r>
            <a:endParaRPr sz="6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922</Words>
  <Application>Microsoft Office PowerPoint</Application>
  <PresentationFormat>Custom</PresentationFormat>
  <Paragraphs>124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Arial Narrow</vt:lpstr>
      <vt:lpstr>Microsoft Sans Serif</vt:lpstr>
      <vt:lpstr>Office Theme</vt:lpstr>
      <vt:lpstr>LLM-POWERED VIRTUAL ASSISTANT</vt:lpstr>
      <vt:lpstr>Problem: Accessibility-Actionability Gap</vt:lpstr>
      <vt:lpstr>Our Solution: RAG-Based Safety System</vt:lpstr>
      <vt:lpstr>Key Objectives</vt:lpstr>
      <vt:lpstr>Dataset: Italian Industrial Safety Corpus</vt:lpstr>
      <vt:lpstr>Preprocessing G</vt:lpstr>
      <vt:lpstr>RAG Pipeline: 03 Stage Design</vt:lpstr>
      <vt:lpstr>Embedding Model: nomic-embed-text</vt:lpstr>
      <vt:lpstr>Hybrid Search: Best of Both Worlds</vt:lpstr>
      <vt:lpstr>Inference: Llama 3 (8B Parameter)</vt:lpstr>
      <vt:lpstr>AI Safety Rules: How We Keep It Honest</vt:lpstr>
      <vt:lpstr>System Architecture: Four Components</vt:lpstr>
      <vt:lpstr>Testing G Evaluation Strategy</vt:lpstr>
      <vt:lpstr>Frameworks G Infrastructure</vt:lpstr>
      <vt:lpstr>Deployment G Privacy</vt:lpstr>
      <vt:lpstr>Key Achievements</vt:lpstr>
      <vt:lpstr>Real-world Impact</vt:lpstr>
      <vt:lpstr>Future Implementation</vt:lpstr>
      <vt:lpstr>RESPONSIBLE AI FOR SAFETY</vt:lpstr>
      <vt:lpstr>THANK YOU!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LLM-Powered Virtual Assistant</dc:title>
  <dc:creator>Samra Amjed</dc:creator>
  <cp:keywords>DAG_cjB-B2U,BAGUs8nR9_Y,0</cp:keywords>
  <cp:lastModifiedBy>Siraj Baloch</cp:lastModifiedBy>
  <cp:revision>1</cp:revision>
  <dcterms:created xsi:type="dcterms:W3CDTF">2026-06-03T21:26:15Z</dcterms:created>
  <dcterms:modified xsi:type="dcterms:W3CDTF">2026-06-03T21:38:58Z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2026-01-25T00:00:00Z</vt:filetime>
  </property>
  <property fmtid="{D5CDD505-2E9C-101B-9397-08002B2CF9AE}" pid="3" name="Creator">
    <vt:lpwstr>Canva</vt:lpwstr>
  </property>
  <property fmtid="{D5CDD505-2E9C-101B-9397-08002B2CF9AE}" pid="4" name="LastSaved">
    <vt:filetime>2026-06-03T00:00:00Z</vt:filetime>
  </property>
  <property fmtid="{D5CDD505-2E9C-101B-9397-08002B2CF9AE}" pid="5" name="Producer">
    <vt:lpwstr>3-Heights(TM) PDF Security Shell 4.8.25.2 (http://www.pdf-tools.com)</vt:lpwstr>
  </property>
</Properties>
</file>